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95" r:id="rId3"/>
    <p:sldId id="272" r:id="rId4"/>
    <p:sldId id="286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99B23B-EC83-4686-B30A-512413B5E67A}"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1" autoAdjust="0"/>
    <p:restoredTop sz="94444" autoAdjust="0"/>
  </p:normalViewPr>
  <p:slideViewPr>
    <p:cSldViewPr snapToGrid="0" showGuides="1">
      <p:cViewPr varScale="1">
        <p:scale>
          <a:sx n="48" d="100"/>
          <a:sy n="48" d="100"/>
        </p:scale>
        <p:origin x="39" y="1206"/>
      </p:cViewPr>
      <p:guideLst>
        <p:guide orient="horz" pos="2146"/>
        <p:guide pos="382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/>
              <a:t>2026/6/30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/>
              <a:t>2026/6/30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ll/>
  </p:transition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ll/>
  </p:transition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B4AA98A8-7709-4848-B048-CB7BD786466B}" type="datetimeFigureOut">
              <a:rPr lang="zh-CN" altLang="en-US"/>
              <a:t>2026/6/30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90204"/>
                <a:ea typeface="Arial" panose="020B0604020202090204"/>
                <a:cs typeface="Arial" panose="020B0604020202090204"/>
                <a:sym typeface="Wingdings" panose="05000000000000000000"/>
              </a:defRPr>
            </a:lvl9pPr>
          </a:lstStyle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</a:p>
          <a:p>
            <a:pPr lvl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</a:p>
          <a:p>
            <a:pPr lvl="2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</a:p>
          <a:p>
            <a:pPr lvl="3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</a:p>
          <a:p>
            <a:pPr lvl="4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3234" y="322782"/>
            <a:ext cx="3820277" cy="428322"/>
          </a:xfrm>
        </p:spPr>
        <p:txBody>
          <a:bodyPr wrap="none">
            <a:spAutoFit/>
          </a:bodyPr>
          <a:lstStyle>
            <a:lvl1pPr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2026/6/30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6" name="圆角矩形 5"/>
          <p:cNvSpPr/>
          <p:nvPr userDrawn="1"/>
        </p:nvSpPr>
        <p:spPr>
          <a:xfrm>
            <a:off x="-635" y="1043305"/>
            <a:ext cx="12192635" cy="58362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 descr="51miz-E242251-C77F5093 拷贝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571480" y="421005"/>
            <a:ext cx="1798955" cy="6223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8" name="图片 7" descr="航空展板-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19200" cy="5400"/>
            </a:xfrm>
            <a:prstGeom prst="rect">
              <a:avLst/>
            </a:prstGeom>
          </p:spPr>
        </p:pic>
        <p:pic>
          <p:nvPicPr>
            <p:cNvPr id="9" name="图片 8" descr="航空展板-2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0" y="5400"/>
              <a:ext cx="19200" cy="5400"/>
            </a:xfrm>
            <a:prstGeom prst="rect">
              <a:avLst/>
            </a:prstGeom>
          </p:spPr>
        </p:pic>
      </p:grpSp>
      <p:sp>
        <p:nvSpPr>
          <p:cNvPr id="10" name="矩形 9"/>
          <p:cNvSpPr/>
          <p:nvPr userDrawn="1"/>
        </p:nvSpPr>
        <p:spPr>
          <a:xfrm>
            <a:off x="635" y="0"/>
            <a:ext cx="12191365" cy="6859270"/>
          </a:xfrm>
          <a:prstGeom prst="rect">
            <a:avLst/>
          </a:prstGeom>
          <a:gradFill>
            <a:gsLst>
              <a:gs pos="0">
                <a:srgbClr val="5183D5">
                  <a:alpha val="100000"/>
                </a:srgbClr>
              </a:gs>
              <a:gs pos="43000">
                <a:srgbClr val="5888D7">
                  <a:alpha val="75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>
    <p:pull/>
  </p:transition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2" Type="http://schemas.openxmlformats.org/officeDocument/2006/relationships/tags" Target="../tags/tag5.xml"/><Relationship Id="rId16" Type="http://schemas.openxmlformats.org/officeDocument/2006/relationships/image" Target="../media/image5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image" Target="../media/image4.png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26" Type="http://schemas.openxmlformats.org/officeDocument/2006/relationships/tags" Target="../tags/tag43.xml"/><Relationship Id="rId3" Type="http://schemas.openxmlformats.org/officeDocument/2006/relationships/tags" Target="../tags/tag20.xml"/><Relationship Id="rId21" Type="http://schemas.openxmlformats.org/officeDocument/2006/relationships/tags" Target="../tags/tag38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5" Type="http://schemas.openxmlformats.org/officeDocument/2006/relationships/tags" Target="../tags/tag42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tags" Target="../tags/tag37.xml"/><Relationship Id="rId29" Type="http://schemas.openxmlformats.org/officeDocument/2006/relationships/tags" Target="../tags/tag46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24" Type="http://schemas.openxmlformats.org/officeDocument/2006/relationships/tags" Target="../tags/tag41.xml"/><Relationship Id="rId32" Type="http://schemas.openxmlformats.org/officeDocument/2006/relationships/slideLayout" Target="../slideLayouts/slideLayout4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23" Type="http://schemas.openxmlformats.org/officeDocument/2006/relationships/tags" Target="../tags/tag40.xml"/><Relationship Id="rId28" Type="http://schemas.openxmlformats.org/officeDocument/2006/relationships/tags" Target="../tags/tag45.xml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31" Type="http://schemas.openxmlformats.org/officeDocument/2006/relationships/tags" Target="../tags/tag48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tags" Target="../tags/tag39.xml"/><Relationship Id="rId27" Type="http://schemas.openxmlformats.org/officeDocument/2006/relationships/tags" Target="../tags/tag44.xml"/><Relationship Id="rId30" Type="http://schemas.openxmlformats.org/officeDocument/2006/relationships/tags" Target="../tags/tag4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51miz-E242251-C77F509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02425" y="3118485"/>
            <a:ext cx="5299710" cy="2084705"/>
          </a:xfrm>
          <a:prstGeom prst="rect">
            <a:avLst/>
          </a:prstGeom>
        </p:spPr>
      </p:pic>
      <p:pic>
        <p:nvPicPr>
          <p:cNvPr id="9" name="图片 8" descr="51miz-E242251-C77F5093 拷贝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06865" y="2091055"/>
            <a:ext cx="2522220" cy="87249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455986" y="1662492"/>
            <a:ext cx="8535614" cy="1232120"/>
            <a:chOff x="1070" y="2742"/>
            <a:chExt cx="10625" cy="3422"/>
          </a:xfrm>
        </p:grpSpPr>
        <p:sp>
          <p:nvSpPr>
            <p:cNvPr id="13" name="文本框 12"/>
            <p:cNvSpPr txBox="1"/>
            <p:nvPr>
              <p:custDataLst>
                <p:tags r:id="rId13"/>
              </p:custDataLst>
            </p:nvPr>
          </p:nvSpPr>
          <p:spPr>
            <a:xfrm>
              <a:off x="1070" y="2742"/>
              <a:ext cx="10625" cy="307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6600">
                  <a:solidFill>
                    <a:schemeClr val="accent5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DS</a:t>
              </a:r>
              <a:r>
                <a:rPr lang="zh-CN" altLang="en-US" sz="6600">
                  <a:solidFill>
                    <a:schemeClr val="accent5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航空票务管理系统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74" y="3090"/>
              <a:ext cx="10010" cy="307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6600">
                  <a:solidFill>
                    <a:schemeClr val="bg1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DS</a:t>
              </a:r>
              <a:r>
                <a:rPr lang="zh-CN" altLang="en-US" sz="6600">
                  <a:solidFill>
                    <a:schemeClr val="bg1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航空票务管理系统</a:t>
              </a:r>
            </a:p>
          </p:txBody>
        </p:sp>
      </p:grpSp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497114" y="1195070"/>
            <a:ext cx="671449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solidFill>
                  <a:schemeClr val="bg1">
                    <a:lumMod val="95000"/>
                  </a:schemeClr>
                </a:solidFill>
                <a:latin typeface="字体家AI造字剑客" panose="03000503000000000000" pitchFamily="66" charset="-122"/>
                <a:ea typeface="字体家AI造字剑客" panose="03000503000000000000" pitchFamily="66" charset="-122"/>
                <a:cs typeface="+mn-ea"/>
                <a:sym typeface="+mn-lt"/>
              </a:rPr>
              <a:t>Knowledge About  Aeronautics  And  Astronautics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461997" y="3358515"/>
            <a:ext cx="4784725" cy="446405"/>
            <a:chOff x="1353" y="5305"/>
            <a:chExt cx="7535" cy="703"/>
          </a:xfrm>
        </p:grpSpPr>
        <p:sp>
          <p:nvSpPr>
            <p:cNvPr id="3" name="任意多边形 2"/>
            <p:cNvSpPr/>
            <p:nvPr>
              <p:custDataLst>
                <p:tags r:id="rId9"/>
              </p:custDataLst>
            </p:nvPr>
          </p:nvSpPr>
          <p:spPr>
            <a:xfrm>
              <a:off x="1353" y="5306"/>
              <a:ext cx="1273" cy="701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15" h="1940">
                  <a:moveTo>
                    <a:pt x="970" y="0"/>
                  </a:moveTo>
                  <a:lnTo>
                    <a:pt x="2615" y="0"/>
                  </a:lnTo>
                  <a:lnTo>
                    <a:pt x="2615" y="1940"/>
                  </a:lnTo>
                  <a:lnTo>
                    <a:pt x="970" y="1940"/>
                  </a:lnTo>
                  <a:cubicBezTo>
                    <a:pt x="434" y="1940"/>
                    <a:pt x="0" y="1506"/>
                    <a:pt x="0" y="970"/>
                  </a:cubicBezTo>
                  <a:cubicBezTo>
                    <a:pt x="0" y="434"/>
                    <a:pt x="434" y="0"/>
                    <a:pt x="97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2160" y="5306"/>
              <a:ext cx="3298" cy="7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任意多边形 3"/>
            <p:cNvSpPr/>
            <p:nvPr>
              <p:custDataLst>
                <p:tags r:id="rId10"/>
              </p:custDataLst>
            </p:nvPr>
          </p:nvSpPr>
          <p:spPr>
            <a:xfrm rot="10800000">
              <a:off x="7637" y="5306"/>
              <a:ext cx="1107" cy="701"/>
            </a:xfrm>
            <a:custGeom>
              <a:avLst/>
              <a:gdLst>
                <a:gd name="adj" fmla="val 50000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15" h="1940">
                  <a:moveTo>
                    <a:pt x="970" y="0"/>
                  </a:moveTo>
                  <a:lnTo>
                    <a:pt x="2615" y="0"/>
                  </a:lnTo>
                  <a:lnTo>
                    <a:pt x="2615" y="1940"/>
                  </a:lnTo>
                  <a:lnTo>
                    <a:pt x="970" y="1940"/>
                  </a:lnTo>
                  <a:cubicBezTo>
                    <a:pt x="434" y="1940"/>
                    <a:pt x="0" y="1506"/>
                    <a:pt x="0" y="970"/>
                  </a:cubicBezTo>
                  <a:cubicBezTo>
                    <a:pt x="0" y="434"/>
                    <a:pt x="434" y="0"/>
                    <a:pt x="970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11"/>
              </p:custDataLst>
            </p:nvPr>
          </p:nvSpPr>
          <p:spPr>
            <a:xfrm>
              <a:off x="5459" y="5305"/>
              <a:ext cx="2563" cy="70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17" y="5367"/>
              <a:ext cx="4173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err="1">
                  <a:solidFill>
                    <a:srgbClr val="00457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数据库期中汇报</a:t>
              </a:r>
            </a:p>
          </p:txBody>
        </p:sp>
        <p:sp>
          <p:nvSpPr>
            <p:cNvPr id="17" name="文本框 16"/>
            <p:cNvSpPr txBox="1"/>
            <p:nvPr>
              <p:custDataLst>
                <p:tags r:id="rId12"/>
              </p:custDataLst>
            </p:nvPr>
          </p:nvSpPr>
          <p:spPr>
            <a:xfrm>
              <a:off x="5312" y="5367"/>
              <a:ext cx="357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第五小组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06375" y="219710"/>
            <a:ext cx="2587625" cy="752475"/>
            <a:chOff x="779" y="698"/>
            <a:chExt cx="4316" cy="1255"/>
          </a:xfrm>
        </p:grpSpPr>
        <p:sp>
          <p:nvSpPr>
            <p:cNvPr id="28" name="标题 1"/>
            <p:cNvSpPr txBox="1"/>
            <p:nvPr>
              <p:custDataLst>
                <p:tags r:id="rId7"/>
              </p:custDataLst>
            </p:nvPr>
          </p:nvSpPr>
          <p:spPr>
            <a:xfrm>
              <a:off x="1505" y="698"/>
              <a:ext cx="3590" cy="1255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indent="0" fontAlgn="auto">
                <a:lnSpc>
                  <a:spcPct val="100000"/>
                </a:lnSpc>
              </a:pPr>
              <a:r>
                <a:rPr lang="en-US" altLang="zh-CN" sz="16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DEARM </a:t>
              </a:r>
            </a:p>
            <a:p>
              <a:pPr indent="0" fontAlgn="auto">
                <a:lnSpc>
                  <a:spcPct val="100000"/>
                </a:lnSpc>
              </a:pPr>
              <a:r>
                <a:rPr lang="en-US" altLang="zh-CN" sz="16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COMPANY</a:t>
              </a:r>
            </a:p>
          </p:txBody>
        </p:sp>
        <p:sp>
          <p:nvSpPr>
            <p:cNvPr id="121" name="矩形 45"/>
            <p:cNvSpPr/>
            <p:nvPr>
              <p:custDataLst>
                <p:tags r:id="rId8"/>
              </p:custDataLst>
            </p:nvPr>
          </p:nvSpPr>
          <p:spPr>
            <a:xfrm flipH="1">
              <a:off x="779" y="854"/>
              <a:ext cx="608" cy="613"/>
            </a:xfrm>
            <a:custGeom>
              <a:avLst/>
              <a:gdLst/>
              <a:ahLst/>
              <a:cxnLst/>
              <a:rect l="l" t="t" r="r" b="b"/>
              <a:pathLst>
                <a:path w="752475" h="755648">
                  <a:moveTo>
                    <a:pt x="60325" y="0"/>
                  </a:moveTo>
                  <a:cubicBezTo>
                    <a:pt x="86342" y="0"/>
                    <a:pt x="108512" y="16470"/>
                    <a:pt x="116492" y="39730"/>
                  </a:cubicBezTo>
                  <a:lnTo>
                    <a:pt x="251669" y="169806"/>
                  </a:lnTo>
                  <a:lnTo>
                    <a:pt x="654050" y="15875"/>
                  </a:lnTo>
                  <a:lnTo>
                    <a:pt x="749300" y="88900"/>
                  </a:lnTo>
                  <a:lnTo>
                    <a:pt x="420437" y="332205"/>
                  </a:lnTo>
                  <a:lnTo>
                    <a:pt x="574416" y="480374"/>
                  </a:lnTo>
                  <a:lnTo>
                    <a:pt x="752475" y="469900"/>
                  </a:lnTo>
                  <a:lnTo>
                    <a:pt x="742950" y="565150"/>
                  </a:lnTo>
                  <a:lnTo>
                    <a:pt x="609861" y="596204"/>
                  </a:lnTo>
                  <a:lnTo>
                    <a:pt x="552451" y="749298"/>
                  </a:lnTo>
                  <a:lnTo>
                    <a:pt x="473076" y="755648"/>
                  </a:lnTo>
                  <a:lnTo>
                    <a:pt x="486660" y="572267"/>
                  </a:lnTo>
                  <a:lnTo>
                    <a:pt x="331516" y="416116"/>
                  </a:lnTo>
                  <a:lnTo>
                    <a:pt x="98425" y="752475"/>
                  </a:lnTo>
                  <a:lnTo>
                    <a:pt x="6350" y="660400"/>
                  </a:lnTo>
                  <a:lnTo>
                    <a:pt x="172156" y="255721"/>
                  </a:lnTo>
                  <a:lnTo>
                    <a:pt x="25948" y="108564"/>
                  </a:lnTo>
                  <a:cubicBezTo>
                    <a:pt x="9989" y="98516"/>
                    <a:pt x="0" y="80587"/>
                    <a:pt x="0" y="60325"/>
                  </a:cubicBezTo>
                  <a:cubicBezTo>
                    <a:pt x="0" y="27008"/>
                    <a:pt x="27008" y="0"/>
                    <a:pt x="60325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21385" fontAlgn="auto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0" name="直接连接符 29"/>
          <p:cNvCxnSpPr/>
          <p:nvPr/>
        </p:nvCxnSpPr>
        <p:spPr>
          <a:xfrm flipH="1">
            <a:off x="323850" y="796290"/>
            <a:ext cx="0" cy="518096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293370" y="5664200"/>
            <a:ext cx="90170" cy="878205"/>
            <a:chOff x="450" y="8634"/>
            <a:chExt cx="176" cy="1726"/>
          </a:xfrm>
        </p:grpSpPr>
        <p:sp>
          <p:nvSpPr>
            <p:cNvPr id="32" name="椭圆 31"/>
            <p:cNvSpPr/>
            <p:nvPr>
              <p:custDataLst>
                <p:tags r:id="rId3"/>
              </p:custDataLst>
            </p:nvPr>
          </p:nvSpPr>
          <p:spPr>
            <a:xfrm flipH="1" flipV="1">
              <a:off x="450" y="8634"/>
              <a:ext cx="177" cy="177"/>
            </a:xfrm>
            <a:prstGeom prst="ellipse">
              <a:avLst/>
            </a:prstGeom>
            <a:solidFill>
              <a:srgbClr val="00457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R" panose="0002060004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4"/>
              </p:custDataLst>
            </p:nvPr>
          </p:nvSpPr>
          <p:spPr>
            <a:xfrm flipH="1" flipV="1">
              <a:off x="450" y="9150"/>
              <a:ext cx="177" cy="177"/>
            </a:xfrm>
            <a:prstGeom prst="ellipse">
              <a:avLst/>
            </a:prstGeom>
            <a:solidFill>
              <a:srgbClr val="5185D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阿里巴巴普惠体 R" panose="0002060004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5"/>
              </p:custDataLst>
            </p:nvPr>
          </p:nvSpPr>
          <p:spPr>
            <a:xfrm flipH="1" flipV="1">
              <a:off x="450" y="9667"/>
              <a:ext cx="177" cy="177"/>
            </a:xfrm>
            <a:prstGeom prst="ellipse">
              <a:avLst/>
            </a:prstGeom>
            <a:solidFill>
              <a:srgbClr val="AFCBF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阿里巴巴普惠体 R" panose="0002060004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6"/>
              </p:custDataLst>
            </p:nvPr>
          </p:nvSpPr>
          <p:spPr>
            <a:xfrm flipH="1" flipV="1">
              <a:off x="450" y="10184"/>
              <a:ext cx="177" cy="177"/>
            </a:xfrm>
            <a:prstGeom prst="ellipse">
              <a:avLst/>
            </a:prstGeom>
            <a:solidFill>
              <a:srgbClr val="AFCBF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R" panose="0002060004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764257" y="4042410"/>
            <a:ext cx="3945890" cy="315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组员：张芷萱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洪雯琪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许露丹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邹雨涵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6270" y="361315"/>
            <a:ext cx="4450080" cy="706755"/>
          </a:xfr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zh-CN"/>
            </a:defPPr>
            <a:lvl1pPr>
              <a:defRPr sz="7200" spc="100">
                <a:gradFill>
                  <a:gsLst>
                    <a:gs pos="0">
                      <a:srgbClr val="93837D">
                        <a:alpha val="84000"/>
                      </a:srgbClr>
                    </a:gs>
                    <a:gs pos="79000">
                      <a:srgbClr val="265A9A">
                        <a:alpha val="38000"/>
                      </a:srgbClr>
                    </a:gs>
                  </a:gsLst>
                  <a:lin ang="13500000" scaled="1"/>
                </a:gradFill>
                <a:latin typeface="+mj-ea"/>
                <a:ea typeface="阿里巴巴普惠体 B" panose="00020600040101010101" charset="-122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4000" b="0">
                <a:solidFill>
                  <a:schemeClr val="bg1"/>
                </a:solidFill>
                <a:effectLst/>
                <a:latin typeface="字体家AI造字剑客" panose="03000503000000000000" pitchFamily="66" charset="-122"/>
                <a:ea typeface="字体家AI造字剑客" panose="03000503000000000000" pitchFamily="66" charset="-122"/>
                <a:cs typeface="+mn-cs"/>
                <a:sym typeface="+mn-ea"/>
              </a:rPr>
              <a:t>数据库</a:t>
            </a:r>
            <a:r>
              <a:rPr lang="en-US" altLang="zh-CN" sz="4000" b="0">
                <a:solidFill>
                  <a:schemeClr val="bg1"/>
                </a:solidFill>
                <a:effectLst/>
                <a:latin typeface="字体家AI造字剑客" panose="03000503000000000000" pitchFamily="66" charset="-122"/>
                <a:ea typeface="字体家AI造字剑客" panose="03000503000000000000" pitchFamily="66" charset="-122"/>
                <a:cs typeface="+mn-cs"/>
                <a:sym typeface="+mn-ea"/>
              </a:rPr>
              <a:t>E-R</a:t>
            </a:r>
            <a:r>
              <a:rPr lang="zh-CN" altLang="en-US" sz="4000" b="0">
                <a:solidFill>
                  <a:schemeClr val="bg1"/>
                </a:solidFill>
                <a:effectLst/>
                <a:latin typeface="字体家AI造字剑客" panose="03000503000000000000" pitchFamily="66" charset="-122"/>
                <a:ea typeface="字体家AI造字剑客" panose="03000503000000000000" pitchFamily="66" charset="-122"/>
                <a:cs typeface="+mn-cs"/>
                <a:sym typeface="+mn-ea"/>
              </a:rPr>
              <a:t>图</a:t>
            </a:r>
          </a:p>
        </p:txBody>
      </p:sp>
      <p:pic>
        <p:nvPicPr>
          <p:cNvPr id="2" name="图片 1" descr="er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0475"/>
            <a:ext cx="7400290" cy="4843780"/>
          </a:xfrm>
          <a:prstGeom prst="rect">
            <a:avLst/>
          </a:prstGeom>
        </p:spPr>
      </p:pic>
      <p:graphicFrame>
        <p:nvGraphicFramePr>
          <p:cNvPr id="16" name="表格 15"/>
          <p:cNvGraphicFramePr/>
          <p:nvPr/>
        </p:nvGraphicFramePr>
        <p:xfrm>
          <a:off x="7538720" y="1786255"/>
          <a:ext cx="4105275" cy="89471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7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1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+mj-lt"/>
                          <a:ea typeface="+mj-lt"/>
                          <a:cs typeface="+mj-lt"/>
                        </a:rPr>
                        <a:t>机场</a:t>
                      </a:r>
                    </a:p>
                  </a:txBody>
                  <a:tcPr marL="0" marR="203517" marT="127317" marB="1273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+mj-lt"/>
                          <a:ea typeface="+mj-lt"/>
                        </a:rPr>
                        <a:t>机场名称、</a:t>
                      </a:r>
                    </a:p>
                    <a:p>
                      <a:pPr algn="ctr"/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+mj-lt"/>
                          <a:ea typeface="+mj-lt"/>
                        </a:rPr>
                        <a:t>机场代码、</a:t>
                      </a:r>
                    </a:p>
                    <a:p>
                      <a:pPr algn="ctr"/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+mj-lt"/>
                          <a:ea typeface="+mj-lt"/>
                        </a:rPr>
                        <a:t>行政区划代码</a:t>
                      </a:r>
                    </a:p>
                  </a:txBody>
                  <a:tcPr marL="203517" marR="203517" marT="127317" marB="1273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+mj-lt"/>
                          <a:ea typeface="+mj-lt"/>
                          <a:cs typeface="+mj-lt"/>
                        </a:rPr>
                        <a:t>机场代码</a:t>
                      </a:r>
                    </a:p>
                  </a:txBody>
                  <a:tcPr marL="203517" marR="203517" marT="127317" marB="1273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extLst>
              <p:ext uri="{D42A27DB-BD31-4B8C-83A1-F6EECF244321}">
                <p14:modId xmlns:p14="http://schemas.microsoft.com/office/powerpoint/2010/main" val="1153353363"/>
              </p:ext>
            </p:extLst>
          </p:nvPr>
        </p:nvGraphicFramePr>
        <p:xfrm>
          <a:off x="7538085" y="3053080"/>
          <a:ext cx="4541314" cy="89471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85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5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9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1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+mj-lt"/>
                          <a:ea typeface="+mj-lt"/>
                          <a:cs typeface="+mj-lt"/>
                        </a:rPr>
                        <a:t>航班停靠 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0" marR="203517" marT="127317" marB="1273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+mj-lt"/>
                          <a:ea typeface="+mj-lt"/>
                        </a:rPr>
                        <a:t>航班号、</a:t>
                      </a:r>
                    </a:p>
                    <a:p>
                      <a:pPr algn="ctr"/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+mj-lt"/>
                          <a:ea typeface="+mj-lt"/>
                        </a:rPr>
                        <a:t>机场代码、</a:t>
                      </a:r>
                    </a:p>
                    <a:p>
                      <a:pPr algn="ctr"/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+mj-lt"/>
                          <a:ea typeface="+mj-lt"/>
                        </a:rPr>
                        <a:t>停靠类型</a:t>
                      </a:r>
                    </a:p>
                  </a:txBody>
                  <a:tcPr marL="203517" marR="203517" marT="127317" marB="1273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cs typeface="+mj-lt"/>
                        </a:rPr>
                        <a:t>(</a:t>
                      </a: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cs typeface="+mj-lt"/>
                        </a:rPr>
                        <a:t>航班号</a:t>
                      </a: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cs typeface="+mj-lt"/>
                        </a:rPr>
                        <a:t>, </a:t>
                      </a: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cs typeface="+mj-lt"/>
                        </a:rPr>
                        <a:t>机场代码</a:t>
                      </a: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cs typeface="+mj-lt"/>
                        </a:rPr>
                        <a:t>)</a:t>
                      </a:r>
                    </a:p>
                  </a:txBody>
                  <a:tcPr marL="203517" marR="203517" marT="127317" marB="1273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/>
          <p:nvPr/>
        </p:nvGraphicFramePr>
        <p:xfrm>
          <a:off x="7538720" y="4319905"/>
          <a:ext cx="4105275" cy="221869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7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186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>
                          <a:solidFill>
                            <a:srgbClr val="0F1115"/>
                          </a:solidFill>
                          <a:latin typeface="+mj-lt"/>
                          <a:ea typeface="+mj-lt"/>
                          <a:cs typeface="+mj-lt"/>
                        </a:rPr>
                        <a:t>航班</a:t>
                      </a:r>
                      <a:endParaRPr lang="en-US" altLang="zh-CN" sz="1400" b="0" i="0">
                        <a:solidFill>
                          <a:srgbClr val="0F1115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0" marR="203517" marT="127317" marB="1273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sym typeface="+mn-ea"/>
                        </a:rPr>
                        <a:t>航班号、</a:t>
                      </a:r>
                    </a:p>
                    <a:p>
                      <a:pPr algn="ctr"/>
                      <a:r>
                        <a:rPr lang="zh-CN" altLang="en-US" sz="1400" b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sym typeface="+mn-ea"/>
                        </a:rPr>
                        <a:t>飞机机型、头等舱数、经济舱数、每周飞行日</a:t>
                      </a:r>
                      <a:r>
                        <a:rPr lang="en-US" altLang="zh-CN" sz="1400" b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sym typeface="+mn-ea"/>
                        </a:rPr>
                        <a:t>、</a:t>
                      </a:r>
                    </a:p>
                    <a:p>
                      <a:pPr algn="ctr"/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sym typeface="+mn-ea"/>
                        </a:rPr>
                        <a:t>起飞时间</a:t>
                      </a: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sym typeface="+mn-ea"/>
                        </a:rPr>
                        <a:t>、</a:t>
                      </a: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sym typeface="+mn-ea"/>
                        </a:rPr>
                        <a:t>到达时间</a:t>
                      </a:r>
                    </a:p>
                  </a:txBody>
                  <a:tcPr marL="203517" marR="203517" marT="127317" marB="1273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latin typeface="+mj-lt"/>
                          <a:ea typeface="+mj-lt"/>
                          <a:cs typeface="+mj-lt"/>
                        </a:rPr>
                        <a:t>航班号</a:t>
                      </a:r>
                      <a:endParaRPr lang="en-US" altLang="zh-CN" sz="1400" b="0" i="0" dirty="0">
                        <a:solidFill>
                          <a:srgbClr val="0F1115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203517" marR="203517" marT="127317" marB="1273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矩形: 圆角 28"/>
          <p:cNvSpPr/>
          <p:nvPr/>
        </p:nvSpPr>
        <p:spPr>
          <a:xfrm flipH="1">
            <a:off x="7538085" y="1260475"/>
            <a:ext cx="1000760" cy="386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表名</a:t>
            </a:r>
          </a:p>
        </p:txBody>
      </p:sp>
      <p:sp>
        <p:nvSpPr>
          <p:cNvPr id="26" name="矩形: 圆角 28"/>
          <p:cNvSpPr/>
          <p:nvPr/>
        </p:nvSpPr>
        <p:spPr>
          <a:xfrm flipH="1">
            <a:off x="8677275" y="1260475"/>
            <a:ext cx="1378585" cy="386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核心字段</a:t>
            </a:r>
          </a:p>
        </p:txBody>
      </p:sp>
      <p:sp>
        <p:nvSpPr>
          <p:cNvPr id="27" name="矩形: 圆角 28"/>
          <p:cNvSpPr/>
          <p:nvPr/>
        </p:nvSpPr>
        <p:spPr>
          <a:xfrm flipH="1">
            <a:off x="10405110" y="1260475"/>
            <a:ext cx="1000760" cy="386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主键</a:t>
            </a:r>
          </a:p>
        </p:txBody>
      </p:sp>
      <p:sp>
        <p:nvSpPr>
          <p:cNvPr id="29" name="右箭头 28"/>
          <p:cNvSpPr/>
          <p:nvPr/>
        </p:nvSpPr>
        <p:spPr>
          <a:xfrm rot="4560000">
            <a:off x="9915603" y="4249303"/>
            <a:ext cx="1486607" cy="33401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 rot="14760000">
            <a:off x="10524490" y="2737485"/>
            <a:ext cx="1080770" cy="280670"/>
          </a:xfrm>
          <a:prstGeom prst="rightArrow">
            <a:avLst>
              <a:gd name="adj1" fmla="val 45926"/>
              <a:gd name="adj2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9" grpId="0" bldLvl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4670" y="306705"/>
            <a:ext cx="4957445" cy="706755"/>
          </a:xfr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zh-CN"/>
            </a:defPPr>
            <a:lvl1pPr>
              <a:defRPr sz="7200" spc="100">
                <a:gradFill>
                  <a:gsLst>
                    <a:gs pos="0">
                      <a:srgbClr val="93837D">
                        <a:alpha val="84000"/>
                      </a:srgbClr>
                    </a:gs>
                    <a:gs pos="79000">
                      <a:srgbClr val="265A9A">
                        <a:alpha val="38000"/>
                      </a:srgbClr>
                    </a:gs>
                  </a:gsLst>
                  <a:lin ang="13500000" scaled="1"/>
                </a:gradFill>
                <a:latin typeface="+mj-ea"/>
                <a:ea typeface="阿里巴巴普惠体 B" panose="00020600040101010101" charset="-122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sz="4000" b="0" noProof="0" dirty="0">
                <a:solidFill>
                  <a:schemeClr val="bg1"/>
                </a:solidFill>
                <a:effectLst/>
                <a:latin typeface="字体家AI造字剑客" panose="03000503000000000000" pitchFamily="66" charset="-122"/>
                <a:ea typeface="字体家AI造字剑客" panose="03000503000000000000" pitchFamily="66" charset="-122"/>
                <a:cs typeface="+mn-cs"/>
                <a:sym typeface="+mn-ea"/>
              </a:rPr>
              <a:t>功能设计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64941" y="1818443"/>
            <a:ext cx="10646287" cy="2702733"/>
            <a:chOff x="1386" y="4272"/>
            <a:chExt cx="16857" cy="3727"/>
          </a:xfrm>
        </p:grpSpPr>
        <p:grpSp>
          <p:nvGrpSpPr>
            <p:cNvPr id="6" name="组合 5"/>
            <p:cNvGrpSpPr/>
            <p:nvPr/>
          </p:nvGrpSpPr>
          <p:grpSpPr>
            <a:xfrm>
              <a:off x="8036" y="4296"/>
              <a:ext cx="4058" cy="3683"/>
              <a:chOff x="7117" y="3493"/>
              <a:chExt cx="4977" cy="4517"/>
            </a:xfrm>
          </p:grpSpPr>
          <p:sp>
            <p:nvSpPr>
              <p:cNvPr id="45" name="图形"/>
              <p:cNvSpPr/>
              <p:nvPr>
                <p:custDataLst>
                  <p:tags r:id="rId24"/>
                </p:custDataLst>
              </p:nvPr>
            </p:nvSpPr>
            <p:spPr>
              <a:xfrm rot="2686645">
                <a:off x="7328" y="3664"/>
                <a:ext cx="2252" cy="2273"/>
              </a:xfrm>
              <a:prstGeom prst="corner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38" tIns="45719" rIns="91438" bIns="45719"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sz="36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图形"/>
              <p:cNvSpPr/>
              <p:nvPr>
                <p:custDataLst>
                  <p:tags r:id="rId25"/>
                </p:custDataLst>
              </p:nvPr>
            </p:nvSpPr>
            <p:spPr>
              <a:xfrm rot="8086644">
                <a:off x="9239" y="3671"/>
                <a:ext cx="2237" cy="2193"/>
              </a:xfrm>
              <a:prstGeom prst="corner">
                <a:avLst/>
              </a:prstGeom>
              <a:solidFill>
                <a:srgbClr val="5185D8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38" tIns="45719" rIns="91438" bIns="45719"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sz="36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图形"/>
              <p:cNvSpPr/>
              <p:nvPr>
                <p:custDataLst>
                  <p:tags r:id="rId26"/>
                </p:custDataLst>
              </p:nvPr>
            </p:nvSpPr>
            <p:spPr>
              <a:xfrm rot="13486645">
                <a:off x="9257" y="5551"/>
                <a:ext cx="2250" cy="2250"/>
              </a:xfrm>
              <a:prstGeom prst="corner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38" tIns="45719" rIns="91438" bIns="45719"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sz="36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2" name="图形"/>
              <p:cNvSpPr/>
              <p:nvPr>
                <p:custDataLst>
                  <p:tags r:id="rId27"/>
                </p:custDataLst>
              </p:nvPr>
            </p:nvSpPr>
            <p:spPr>
              <a:xfrm rot="18886644">
                <a:off x="7367" y="5598"/>
                <a:ext cx="2250" cy="2250"/>
              </a:xfrm>
              <a:prstGeom prst="corner">
                <a:avLst/>
              </a:prstGeom>
              <a:solidFill>
                <a:srgbClr val="5185D8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38" tIns="45719" rIns="91438" bIns="45719" rtlCol="0" anchor="ctr"/>
              <a:lstStyle/>
              <a:p>
                <a:pPr algn="ctr">
                  <a:lnSpc>
                    <a:spcPct val="130000"/>
                  </a:lnSpc>
                </a:pPr>
                <a:endParaRPr lang="zh-CN" sz="3600" noProof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图形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7117" y="4266"/>
                <a:ext cx="1755" cy="1370"/>
              </a:xfrm>
              <a:prstGeom prst="rect">
                <a:avLst/>
              </a:prstGeom>
              <a:noFill/>
            </p:spPr>
            <p:txBody>
              <a:bodyPr wrap="square" lIns="91436" tIns="45718" rIns="91436" bIns="45718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sz="3600" noProof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01</a:t>
                </a:r>
              </a:p>
            </p:txBody>
          </p:sp>
          <p:sp>
            <p:nvSpPr>
              <p:cNvPr id="54" name="图形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9608" y="3493"/>
                <a:ext cx="1755" cy="1370"/>
              </a:xfrm>
              <a:prstGeom prst="rect">
                <a:avLst/>
              </a:prstGeom>
              <a:noFill/>
            </p:spPr>
            <p:txBody>
              <a:bodyPr wrap="square" lIns="91436" tIns="45718" rIns="91436" bIns="45718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sz="3600" noProof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02</a:t>
                </a:r>
              </a:p>
            </p:txBody>
          </p:sp>
          <p:sp>
            <p:nvSpPr>
              <p:cNvPr id="55" name="图形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0339" y="5860"/>
                <a:ext cx="1755" cy="1370"/>
              </a:xfrm>
              <a:prstGeom prst="rect">
                <a:avLst/>
              </a:prstGeom>
              <a:noFill/>
            </p:spPr>
            <p:txBody>
              <a:bodyPr wrap="square" lIns="91436" tIns="45718" rIns="91436" bIns="45718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sz="3600" noProof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04</a:t>
                </a:r>
              </a:p>
            </p:txBody>
          </p:sp>
          <p:sp>
            <p:nvSpPr>
              <p:cNvPr id="56" name="图形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7677" y="6640"/>
                <a:ext cx="1755" cy="1370"/>
              </a:xfrm>
              <a:prstGeom prst="rect">
                <a:avLst/>
              </a:prstGeom>
              <a:noFill/>
            </p:spPr>
            <p:txBody>
              <a:bodyPr wrap="square" lIns="91436" tIns="45718" rIns="91436" bIns="45718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sz="3600" noProof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03</a:t>
                </a:r>
              </a:p>
            </p:txBody>
          </p:sp>
        </p:grpSp>
        <p:sp>
          <p:nvSpPr>
            <p:cNvPr id="57" name="图形"/>
            <p:cNvSpPr/>
            <p:nvPr>
              <p:custDataLst>
                <p:tags r:id="rId8"/>
              </p:custDataLst>
            </p:nvPr>
          </p:nvSpPr>
          <p:spPr>
            <a:xfrm rot="10800000" flipV="1">
              <a:off x="6840" y="4442"/>
              <a:ext cx="429" cy="435"/>
            </a:xfrm>
            <a:prstGeom prst="roundRect">
              <a:avLst>
                <a:gd name="adj" fmla="val 5039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>
                <a:lnSpc>
                  <a:spcPct val="130000"/>
                </a:lnSpc>
              </a:pPr>
              <a:endParaRPr lang="zh-CN" sz="36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8" name="图形"/>
            <p:cNvSpPr txBox="1"/>
            <p:nvPr>
              <p:custDataLst>
                <p:tags r:id="rId9"/>
              </p:custDataLst>
            </p:nvPr>
          </p:nvSpPr>
          <p:spPr>
            <a:xfrm>
              <a:off x="2709" y="4274"/>
              <a:ext cx="3159" cy="633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 algn="l" fontAlgn="auto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用户注册与登录</a:t>
              </a:r>
            </a:p>
          </p:txBody>
        </p:sp>
        <p:cxnSp>
          <p:nvCxnSpPr>
            <p:cNvPr id="59" name="图形"/>
            <p:cNvCxnSpPr/>
            <p:nvPr>
              <p:custDataLst>
                <p:tags r:id="rId10"/>
              </p:custDataLst>
            </p:nvPr>
          </p:nvCxnSpPr>
          <p:spPr>
            <a:xfrm>
              <a:off x="2909" y="5007"/>
              <a:ext cx="3511" cy="23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  <a:alpha val="33000"/>
                </a:schemeClr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图形"/>
            <p:cNvSpPr txBox="1"/>
            <p:nvPr>
              <p:custDataLst>
                <p:tags r:id="rId11"/>
              </p:custDataLst>
            </p:nvPr>
          </p:nvSpPr>
          <p:spPr>
            <a:xfrm>
              <a:off x="1386" y="5204"/>
              <a:ext cx="5843" cy="9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pPr lvl="0" algn="l">
                <a:lnSpc>
                  <a:spcPct val="130000"/>
                </a:lnSpc>
                <a:buClrTx/>
                <a:buSzTx/>
                <a:buFontTx/>
              </a:pPr>
              <a:r>
                <a:rPr lang="zh-CN" sz="1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注册：录入身份信息，默认“普通”会员。</a:t>
              </a:r>
            </a:p>
            <a:p>
              <a:pPr lvl="0" algn="l">
                <a:lnSpc>
                  <a:spcPct val="130000"/>
                </a:lnSpc>
                <a:buClrTx/>
                <a:buSzTx/>
                <a:buFontTx/>
              </a:pPr>
              <a:r>
                <a:rPr lang="zh-CN" sz="1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登录：身份证号为唯一标识，密码MD5加密存储。</a:t>
              </a:r>
            </a:p>
            <a:p>
              <a:pPr lvl="0" algn="l">
                <a:lnSpc>
                  <a:spcPct val="130000"/>
                </a:lnSpc>
                <a:buClrTx/>
                <a:buSzTx/>
                <a:buFontTx/>
              </a:pPr>
              <a:r>
                <a:rPr lang="zh-CN" sz="1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权限：未登录仅限查询，购票及订单需登录。</a:t>
              </a:r>
            </a:p>
          </p:txBody>
        </p:sp>
        <p:sp>
          <p:nvSpPr>
            <p:cNvPr id="61" name="图形"/>
            <p:cNvSpPr/>
            <p:nvPr>
              <p:custDataLst>
                <p:tags r:id="rId12"/>
              </p:custDataLst>
            </p:nvPr>
          </p:nvSpPr>
          <p:spPr>
            <a:xfrm rot="10800000" flipV="1">
              <a:off x="12448" y="4451"/>
              <a:ext cx="429" cy="435"/>
            </a:xfrm>
            <a:prstGeom prst="roundRect">
              <a:avLst>
                <a:gd name="adj" fmla="val 5039"/>
              </a:avLst>
            </a:prstGeom>
            <a:solidFill>
              <a:srgbClr val="5185D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>
                <a:lnSpc>
                  <a:spcPct val="130000"/>
                </a:lnSpc>
              </a:pPr>
              <a:endParaRPr lang="zh-CN" sz="36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图形"/>
            <p:cNvSpPr txBox="1"/>
            <p:nvPr>
              <p:custDataLst>
                <p:tags r:id="rId13"/>
              </p:custDataLst>
            </p:nvPr>
          </p:nvSpPr>
          <p:spPr>
            <a:xfrm>
              <a:off x="13242" y="4272"/>
              <a:ext cx="3419" cy="633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 algn="l" fontAlgn="auto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航班查询</a:t>
              </a:r>
            </a:p>
          </p:txBody>
        </p:sp>
        <p:cxnSp>
          <p:nvCxnSpPr>
            <p:cNvPr id="63" name="图形"/>
            <p:cNvCxnSpPr/>
            <p:nvPr>
              <p:custDataLst>
                <p:tags r:id="rId14"/>
              </p:custDataLst>
            </p:nvPr>
          </p:nvCxnSpPr>
          <p:spPr>
            <a:xfrm>
              <a:off x="13366" y="5030"/>
              <a:ext cx="3511" cy="23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  <a:alpha val="33000"/>
                </a:schemeClr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图形"/>
            <p:cNvSpPr txBox="1"/>
            <p:nvPr>
              <p:custDataLst>
                <p:tags r:id="rId15"/>
              </p:custDataLst>
            </p:nvPr>
          </p:nvSpPr>
          <p:spPr>
            <a:xfrm>
              <a:off x="13123" y="5205"/>
              <a:ext cx="5120" cy="9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sz="1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条件：输入出发地、目的地、日期，查询经停表。</a:t>
              </a: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sz="1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结果：展示航班号、起降时间、余票及折后价。</a:t>
              </a: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sz="1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反馈：无结果提示“当日无可用航班”。</a:t>
              </a:r>
            </a:p>
          </p:txBody>
        </p:sp>
        <p:sp>
          <p:nvSpPr>
            <p:cNvPr id="65" name="图形"/>
            <p:cNvSpPr/>
            <p:nvPr>
              <p:custDataLst>
                <p:tags r:id="rId16"/>
              </p:custDataLst>
            </p:nvPr>
          </p:nvSpPr>
          <p:spPr>
            <a:xfrm rot="10800000" flipV="1">
              <a:off x="6822" y="6372"/>
              <a:ext cx="429" cy="435"/>
            </a:xfrm>
            <a:prstGeom prst="roundRect">
              <a:avLst>
                <a:gd name="adj" fmla="val 5039"/>
              </a:avLst>
            </a:prstGeom>
            <a:solidFill>
              <a:srgbClr val="5185D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>
                <a:lnSpc>
                  <a:spcPct val="130000"/>
                </a:lnSpc>
              </a:pPr>
              <a:endParaRPr lang="zh-CN" sz="36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6" name="图形"/>
            <p:cNvSpPr txBox="1"/>
            <p:nvPr>
              <p:custDataLst>
                <p:tags r:id="rId17"/>
              </p:custDataLst>
            </p:nvPr>
          </p:nvSpPr>
          <p:spPr>
            <a:xfrm>
              <a:off x="2352" y="6233"/>
              <a:ext cx="4035" cy="633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 algn="l" fontAlgn="auto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购买机票与行程查看</a:t>
              </a:r>
            </a:p>
          </p:txBody>
        </p:sp>
        <p:cxnSp>
          <p:nvCxnSpPr>
            <p:cNvPr id="67" name="图形"/>
            <p:cNvCxnSpPr/>
            <p:nvPr>
              <p:custDataLst>
                <p:tags r:id="rId18"/>
              </p:custDataLst>
            </p:nvPr>
          </p:nvCxnSpPr>
          <p:spPr>
            <a:xfrm>
              <a:off x="2709" y="6903"/>
              <a:ext cx="354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  <a:alpha val="33000"/>
                </a:schemeClr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图形"/>
            <p:cNvSpPr txBox="1"/>
            <p:nvPr>
              <p:custDataLst>
                <p:tags r:id="rId19"/>
              </p:custDataLst>
            </p:nvPr>
          </p:nvSpPr>
          <p:spPr>
            <a:xfrm>
              <a:off x="1386" y="7045"/>
              <a:ext cx="5138" cy="9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sz="1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选择：支持头等舱/经济舱选购。</a:t>
              </a: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sz="1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校验：禁止同日同航班重复购票。</a:t>
              </a: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sz="1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控制：余票为0时按钮置灰不可点。</a:t>
              </a:r>
            </a:p>
          </p:txBody>
        </p:sp>
        <p:sp>
          <p:nvSpPr>
            <p:cNvPr id="69" name="图形"/>
            <p:cNvSpPr/>
            <p:nvPr>
              <p:custDataLst>
                <p:tags r:id="rId20"/>
              </p:custDataLst>
            </p:nvPr>
          </p:nvSpPr>
          <p:spPr>
            <a:xfrm rot="10800000" flipV="1">
              <a:off x="12558" y="6232"/>
              <a:ext cx="429" cy="435"/>
            </a:xfrm>
            <a:prstGeom prst="roundRect">
              <a:avLst>
                <a:gd name="adj" fmla="val 5039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>
                <a:lnSpc>
                  <a:spcPct val="130000"/>
                </a:lnSpc>
              </a:pPr>
              <a:endParaRPr lang="zh-CN" sz="3600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0" name="图形"/>
            <p:cNvSpPr txBox="1"/>
            <p:nvPr>
              <p:custDataLst>
                <p:tags r:id="rId21"/>
              </p:custDataLst>
            </p:nvPr>
          </p:nvSpPr>
          <p:spPr>
            <a:xfrm>
              <a:off x="13237" y="6090"/>
              <a:ext cx="2802" cy="633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 algn="l" fontAlgn="auto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退票与改签</a:t>
              </a:r>
            </a:p>
          </p:txBody>
        </p:sp>
        <p:cxnSp>
          <p:nvCxnSpPr>
            <p:cNvPr id="71" name="图形"/>
            <p:cNvCxnSpPr/>
            <p:nvPr>
              <p:custDataLst>
                <p:tags r:id="rId22"/>
              </p:custDataLst>
            </p:nvPr>
          </p:nvCxnSpPr>
          <p:spPr>
            <a:xfrm>
              <a:off x="13366" y="6739"/>
              <a:ext cx="3511" cy="23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  <a:alpha val="33000"/>
                </a:schemeClr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图形"/>
            <p:cNvSpPr txBox="1"/>
            <p:nvPr>
              <p:custDataLst>
                <p:tags r:id="rId23"/>
              </p:custDataLst>
            </p:nvPr>
          </p:nvSpPr>
          <p:spPr>
            <a:xfrm>
              <a:off x="13233" y="6862"/>
              <a:ext cx="5002" cy="6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sz="1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退票：恢复余票；并发请求仅首次成功。</a:t>
              </a: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sz="1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改签：限同路线、同舱位，目标需有余票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55955" y="5301343"/>
            <a:ext cx="10778490" cy="586105"/>
            <a:chOff x="1122" y="4235"/>
            <a:chExt cx="16974" cy="923"/>
          </a:xfrm>
        </p:grpSpPr>
        <p:sp>
          <p:nvSpPr>
            <p:cNvPr id="3" name="任意多边形 49"/>
            <p:cNvSpPr/>
            <p:nvPr>
              <p:custDataLst>
                <p:tags r:id="rId2"/>
              </p:custDataLst>
            </p:nvPr>
          </p:nvSpPr>
          <p:spPr>
            <a:xfrm>
              <a:off x="1122" y="4235"/>
              <a:ext cx="4841" cy="923"/>
            </a:xfrm>
            <a:custGeom>
              <a:avLst/>
              <a:gdLst>
                <a:gd name="connsiteX0" fmla="*/ 2479495 w 2907667"/>
                <a:gd name="connsiteY0" fmla="*/ 428171 h 856344"/>
                <a:gd name="connsiteX1" fmla="*/ 2479495 w 2907667"/>
                <a:gd name="connsiteY1" fmla="*/ 428173 h 856344"/>
                <a:gd name="connsiteX2" fmla="*/ 2479496 w 2907667"/>
                <a:gd name="connsiteY2" fmla="*/ 428172 h 856344"/>
                <a:gd name="connsiteX3" fmla="*/ 428171 w 2907667"/>
                <a:gd name="connsiteY3" fmla="*/ 0 h 856344"/>
                <a:gd name="connsiteX4" fmla="*/ 2051324 w 2907667"/>
                <a:gd name="connsiteY4" fmla="*/ 0 h 856344"/>
                <a:gd name="connsiteX5" fmla="*/ 2479495 w 2907667"/>
                <a:gd name="connsiteY5" fmla="*/ 0 h 856344"/>
                <a:gd name="connsiteX6" fmla="*/ 2479496 w 2907667"/>
                <a:gd name="connsiteY6" fmla="*/ 0 h 856344"/>
                <a:gd name="connsiteX7" fmla="*/ 2907667 w 2907667"/>
                <a:gd name="connsiteY7" fmla="*/ 428172 h 856344"/>
                <a:gd name="connsiteX8" fmla="*/ 2479496 w 2907667"/>
                <a:gd name="connsiteY8" fmla="*/ 856343 h 856344"/>
                <a:gd name="connsiteX9" fmla="*/ 2479495 w 2907667"/>
                <a:gd name="connsiteY9" fmla="*/ 856343 h 856344"/>
                <a:gd name="connsiteX10" fmla="*/ 2051324 w 2907667"/>
                <a:gd name="connsiteY10" fmla="*/ 856343 h 856344"/>
                <a:gd name="connsiteX11" fmla="*/ 428173 w 2907667"/>
                <a:gd name="connsiteY11" fmla="*/ 856343 h 856344"/>
                <a:gd name="connsiteX12" fmla="*/ 428172 w 2907667"/>
                <a:gd name="connsiteY12" fmla="*/ 856344 h 856344"/>
                <a:gd name="connsiteX13" fmla="*/ 0 w 2907667"/>
                <a:gd name="connsiteY13" fmla="*/ 856344 h 856344"/>
                <a:gd name="connsiteX14" fmla="*/ 428171 w 2907667"/>
                <a:gd name="connsiteY14" fmla="*/ 428174 h 856344"/>
                <a:gd name="connsiteX15" fmla="*/ 428171 w 2907667"/>
                <a:gd name="connsiteY15" fmla="*/ 428172 h 856344"/>
                <a:gd name="connsiteX16" fmla="*/ 0 w 2907667"/>
                <a:gd name="connsiteY16" fmla="*/ 1 h 856344"/>
                <a:gd name="connsiteX17" fmla="*/ 428171 w 2907667"/>
                <a:gd name="connsiteY17" fmla="*/ 1 h 85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07667" h="856343">
                  <a:moveTo>
                    <a:pt x="2479495" y="428171"/>
                  </a:moveTo>
                  <a:lnTo>
                    <a:pt x="2479495" y="428173"/>
                  </a:lnTo>
                  <a:lnTo>
                    <a:pt x="2479496" y="428172"/>
                  </a:lnTo>
                  <a:close/>
                  <a:moveTo>
                    <a:pt x="428171" y="0"/>
                  </a:moveTo>
                  <a:lnTo>
                    <a:pt x="2051324" y="0"/>
                  </a:lnTo>
                  <a:lnTo>
                    <a:pt x="2479495" y="0"/>
                  </a:lnTo>
                  <a:lnTo>
                    <a:pt x="2479496" y="0"/>
                  </a:lnTo>
                  <a:lnTo>
                    <a:pt x="2907667" y="428172"/>
                  </a:lnTo>
                  <a:lnTo>
                    <a:pt x="2479496" y="856343"/>
                  </a:lnTo>
                  <a:lnTo>
                    <a:pt x="2479495" y="856343"/>
                  </a:lnTo>
                  <a:lnTo>
                    <a:pt x="2051324" y="856343"/>
                  </a:lnTo>
                  <a:lnTo>
                    <a:pt x="428173" y="856343"/>
                  </a:lnTo>
                  <a:lnTo>
                    <a:pt x="428172" y="856344"/>
                  </a:lnTo>
                  <a:lnTo>
                    <a:pt x="0" y="856344"/>
                  </a:lnTo>
                  <a:lnTo>
                    <a:pt x="428171" y="428174"/>
                  </a:lnTo>
                  <a:lnTo>
                    <a:pt x="428171" y="428172"/>
                  </a:lnTo>
                  <a:lnTo>
                    <a:pt x="0" y="1"/>
                  </a:lnTo>
                  <a:lnTo>
                    <a:pt x="428171" y="1"/>
                  </a:lnTo>
                  <a:close/>
                </a:path>
              </a:pathLst>
            </a:custGeom>
            <a:solidFill>
              <a:srgbClr val="0A80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3"/>
              </p:custDataLst>
            </p:nvPr>
          </p:nvSpPr>
          <p:spPr>
            <a:xfrm>
              <a:off x="1510" y="4407"/>
              <a:ext cx="39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b="1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城市与机场管理</a:t>
              </a:r>
            </a:p>
          </p:txBody>
        </p:sp>
        <p:sp>
          <p:nvSpPr>
            <p:cNvPr id="7" name="任意多边形 51"/>
            <p:cNvSpPr/>
            <p:nvPr>
              <p:custDataLst>
                <p:tags r:id="rId4"/>
              </p:custDataLst>
            </p:nvPr>
          </p:nvSpPr>
          <p:spPr>
            <a:xfrm>
              <a:off x="7711" y="4235"/>
              <a:ext cx="4420" cy="923"/>
            </a:xfrm>
            <a:custGeom>
              <a:avLst/>
              <a:gdLst>
                <a:gd name="connsiteX0" fmla="*/ 2479495 w 2907667"/>
                <a:gd name="connsiteY0" fmla="*/ 428171 h 856344"/>
                <a:gd name="connsiteX1" fmla="*/ 2479495 w 2907667"/>
                <a:gd name="connsiteY1" fmla="*/ 428173 h 856344"/>
                <a:gd name="connsiteX2" fmla="*/ 2479496 w 2907667"/>
                <a:gd name="connsiteY2" fmla="*/ 428172 h 856344"/>
                <a:gd name="connsiteX3" fmla="*/ 428171 w 2907667"/>
                <a:gd name="connsiteY3" fmla="*/ 0 h 856344"/>
                <a:gd name="connsiteX4" fmla="*/ 2051324 w 2907667"/>
                <a:gd name="connsiteY4" fmla="*/ 0 h 856344"/>
                <a:gd name="connsiteX5" fmla="*/ 2479495 w 2907667"/>
                <a:gd name="connsiteY5" fmla="*/ 0 h 856344"/>
                <a:gd name="connsiteX6" fmla="*/ 2479496 w 2907667"/>
                <a:gd name="connsiteY6" fmla="*/ 0 h 856344"/>
                <a:gd name="connsiteX7" fmla="*/ 2907667 w 2907667"/>
                <a:gd name="connsiteY7" fmla="*/ 428172 h 856344"/>
                <a:gd name="connsiteX8" fmla="*/ 2479496 w 2907667"/>
                <a:gd name="connsiteY8" fmla="*/ 856343 h 856344"/>
                <a:gd name="connsiteX9" fmla="*/ 2479495 w 2907667"/>
                <a:gd name="connsiteY9" fmla="*/ 856343 h 856344"/>
                <a:gd name="connsiteX10" fmla="*/ 2051324 w 2907667"/>
                <a:gd name="connsiteY10" fmla="*/ 856343 h 856344"/>
                <a:gd name="connsiteX11" fmla="*/ 428173 w 2907667"/>
                <a:gd name="connsiteY11" fmla="*/ 856343 h 856344"/>
                <a:gd name="connsiteX12" fmla="*/ 428172 w 2907667"/>
                <a:gd name="connsiteY12" fmla="*/ 856344 h 856344"/>
                <a:gd name="connsiteX13" fmla="*/ 0 w 2907667"/>
                <a:gd name="connsiteY13" fmla="*/ 856344 h 856344"/>
                <a:gd name="connsiteX14" fmla="*/ 428171 w 2907667"/>
                <a:gd name="connsiteY14" fmla="*/ 428174 h 856344"/>
                <a:gd name="connsiteX15" fmla="*/ 428171 w 2907667"/>
                <a:gd name="connsiteY15" fmla="*/ 428172 h 856344"/>
                <a:gd name="connsiteX16" fmla="*/ 0 w 2907667"/>
                <a:gd name="connsiteY16" fmla="*/ 1 h 856344"/>
                <a:gd name="connsiteX17" fmla="*/ 428171 w 2907667"/>
                <a:gd name="connsiteY17" fmla="*/ 1 h 85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07667" h="856343">
                  <a:moveTo>
                    <a:pt x="2479495" y="428171"/>
                  </a:moveTo>
                  <a:lnTo>
                    <a:pt x="2479495" y="428173"/>
                  </a:lnTo>
                  <a:lnTo>
                    <a:pt x="2479496" y="428172"/>
                  </a:lnTo>
                  <a:close/>
                  <a:moveTo>
                    <a:pt x="428171" y="0"/>
                  </a:moveTo>
                  <a:lnTo>
                    <a:pt x="2051324" y="0"/>
                  </a:lnTo>
                  <a:lnTo>
                    <a:pt x="2479495" y="0"/>
                  </a:lnTo>
                  <a:lnTo>
                    <a:pt x="2479496" y="0"/>
                  </a:lnTo>
                  <a:lnTo>
                    <a:pt x="2907667" y="428172"/>
                  </a:lnTo>
                  <a:lnTo>
                    <a:pt x="2479496" y="856343"/>
                  </a:lnTo>
                  <a:lnTo>
                    <a:pt x="2479495" y="856343"/>
                  </a:lnTo>
                  <a:lnTo>
                    <a:pt x="2051324" y="856343"/>
                  </a:lnTo>
                  <a:lnTo>
                    <a:pt x="428173" y="856343"/>
                  </a:lnTo>
                  <a:lnTo>
                    <a:pt x="428172" y="856344"/>
                  </a:lnTo>
                  <a:lnTo>
                    <a:pt x="0" y="856344"/>
                  </a:lnTo>
                  <a:lnTo>
                    <a:pt x="428171" y="428174"/>
                  </a:lnTo>
                  <a:lnTo>
                    <a:pt x="428171" y="428172"/>
                  </a:lnTo>
                  <a:lnTo>
                    <a:pt x="0" y="1"/>
                  </a:lnTo>
                  <a:lnTo>
                    <a:pt x="428171" y="1"/>
                  </a:lnTo>
                  <a:close/>
                </a:path>
              </a:pathLst>
            </a:custGeom>
            <a:solidFill>
              <a:srgbClr val="0A80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8494" y="4417"/>
              <a:ext cx="29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b="1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航线与航班管理</a:t>
              </a:r>
            </a:p>
          </p:txBody>
        </p:sp>
        <p:sp>
          <p:nvSpPr>
            <p:cNvPr id="11" name="任意多边形 53"/>
            <p:cNvSpPr/>
            <p:nvPr>
              <p:custDataLst>
                <p:tags r:id="rId6"/>
              </p:custDataLst>
            </p:nvPr>
          </p:nvSpPr>
          <p:spPr>
            <a:xfrm>
              <a:off x="13677" y="4235"/>
              <a:ext cx="4419" cy="923"/>
            </a:xfrm>
            <a:custGeom>
              <a:avLst/>
              <a:gdLst>
                <a:gd name="connsiteX0" fmla="*/ 2479495 w 2907667"/>
                <a:gd name="connsiteY0" fmla="*/ 428171 h 856344"/>
                <a:gd name="connsiteX1" fmla="*/ 2479495 w 2907667"/>
                <a:gd name="connsiteY1" fmla="*/ 428173 h 856344"/>
                <a:gd name="connsiteX2" fmla="*/ 2479496 w 2907667"/>
                <a:gd name="connsiteY2" fmla="*/ 428172 h 856344"/>
                <a:gd name="connsiteX3" fmla="*/ 428171 w 2907667"/>
                <a:gd name="connsiteY3" fmla="*/ 0 h 856344"/>
                <a:gd name="connsiteX4" fmla="*/ 2051324 w 2907667"/>
                <a:gd name="connsiteY4" fmla="*/ 0 h 856344"/>
                <a:gd name="connsiteX5" fmla="*/ 2479495 w 2907667"/>
                <a:gd name="connsiteY5" fmla="*/ 0 h 856344"/>
                <a:gd name="connsiteX6" fmla="*/ 2479496 w 2907667"/>
                <a:gd name="connsiteY6" fmla="*/ 0 h 856344"/>
                <a:gd name="connsiteX7" fmla="*/ 2907667 w 2907667"/>
                <a:gd name="connsiteY7" fmla="*/ 428172 h 856344"/>
                <a:gd name="connsiteX8" fmla="*/ 2479496 w 2907667"/>
                <a:gd name="connsiteY8" fmla="*/ 856343 h 856344"/>
                <a:gd name="connsiteX9" fmla="*/ 2479495 w 2907667"/>
                <a:gd name="connsiteY9" fmla="*/ 856343 h 856344"/>
                <a:gd name="connsiteX10" fmla="*/ 2051324 w 2907667"/>
                <a:gd name="connsiteY10" fmla="*/ 856343 h 856344"/>
                <a:gd name="connsiteX11" fmla="*/ 428173 w 2907667"/>
                <a:gd name="connsiteY11" fmla="*/ 856343 h 856344"/>
                <a:gd name="connsiteX12" fmla="*/ 428172 w 2907667"/>
                <a:gd name="connsiteY12" fmla="*/ 856344 h 856344"/>
                <a:gd name="connsiteX13" fmla="*/ 0 w 2907667"/>
                <a:gd name="connsiteY13" fmla="*/ 856344 h 856344"/>
                <a:gd name="connsiteX14" fmla="*/ 428171 w 2907667"/>
                <a:gd name="connsiteY14" fmla="*/ 428174 h 856344"/>
                <a:gd name="connsiteX15" fmla="*/ 428171 w 2907667"/>
                <a:gd name="connsiteY15" fmla="*/ 428172 h 856344"/>
                <a:gd name="connsiteX16" fmla="*/ 0 w 2907667"/>
                <a:gd name="connsiteY16" fmla="*/ 1 h 856344"/>
                <a:gd name="connsiteX17" fmla="*/ 428171 w 2907667"/>
                <a:gd name="connsiteY17" fmla="*/ 1 h 85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07667" h="856343">
                  <a:moveTo>
                    <a:pt x="2479495" y="428171"/>
                  </a:moveTo>
                  <a:lnTo>
                    <a:pt x="2479495" y="428173"/>
                  </a:lnTo>
                  <a:lnTo>
                    <a:pt x="2479496" y="428172"/>
                  </a:lnTo>
                  <a:close/>
                  <a:moveTo>
                    <a:pt x="428171" y="0"/>
                  </a:moveTo>
                  <a:lnTo>
                    <a:pt x="2051324" y="0"/>
                  </a:lnTo>
                  <a:lnTo>
                    <a:pt x="2479495" y="0"/>
                  </a:lnTo>
                  <a:lnTo>
                    <a:pt x="2479496" y="0"/>
                  </a:lnTo>
                  <a:lnTo>
                    <a:pt x="2907667" y="428172"/>
                  </a:lnTo>
                  <a:lnTo>
                    <a:pt x="2479496" y="856343"/>
                  </a:lnTo>
                  <a:lnTo>
                    <a:pt x="2479495" y="856343"/>
                  </a:lnTo>
                  <a:lnTo>
                    <a:pt x="2051324" y="856343"/>
                  </a:lnTo>
                  <a:lnTo>
                    <a:pt x="428173" y="856343"/>
                  </a:lnTo>
                  <a:lnTo>
                    <a:pt x="428172" y="856344"/>
                  </a:lnTo>
                  <a:lnTo>
                    <a:pt x="0" y="856344"/>
                  </a:lnTo>
                  <a:lnTo>
                    <a:pt x="428171" y="428174"/>
                  </a:lnTo>
                  <a:lnTo>
                    <a:pt x="428171" y="428172"/>
                  </a:lnTo>
                  <a:lnTo>
                    <a:pt x="0" y="1"/>
                  </a:lnTo>
                  <a:lnTo>
                    <a:pt x="428171" y="1"/>
                  </a:lnTo>
                  <a:close/>
                </a:path>
              </a:pathLst>
            </a:custGeom>
            <a:solidFill>
              <a:srgbClr val="0A80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7"/>
              </p:custDataLst>
            </p:nvPr>
          </p:nvSpPr>
          <p:spPr>
            <a:xfrm>
              <a:off x="14083" y="4417"/>
              <a:ext cx="352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b="1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乘客与订单管理</a:t>
              </a:r>
            </a:p>
          </p:txBody>
        </p:sp>
      </p:grpSp>
      <p:sp>
        <p:nvSpPr>
          <p:cNvPr id="13" name="图形"/>
          <p:cNvSpPr txBox="1"/>
          <p:nvPr/>
        </p:nvSpPr>
        <p:spPr>
          <a:xfrm>
            <a:off x="400781" y="6110633"/>
            <a:ext cx="3690233" cy="49149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sz="10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城市管理：支持增删改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查</a:t>
            </a:r>
            <a:r>
              <a:rPr lang="zh-CN" sz="10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，删除前校验关联机场。</a:t>
            </a: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sz="10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机场管理：支持增删改</a:t>
            </a:r>
            <a:r>
              <a:rPr lang="zh-CN" altLang="en-US" sz="10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查</a:t>
            </a:r>
            <a:r>
              <a:rPr lang="zh-CN" sz="10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，删除前校验关联航班。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4356196" y="6052213"/>
            <a:ext cx="3690233" cy="69151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sz="10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航线维护：录入基础信息，修改时级联更新航班实例。</a:t>
            </a: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sz="10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航班编排：按周期自动生成未来两月航班，初始化余票。</a:t>
            </a: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sz="10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航班调整：支持基于航线模板微调具体航班信息。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8477346" y="6104918"/>
            <a:ext cx="3690233" cy="49149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sz="10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乘客管理：查询信息，支持修改会员等级。</a:t>
            </a: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sz="10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订单管理：展示流水详情（乘客/航班/金额/状态）。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5200015" y="1174115"/>
            <a:ext cx="1960245" cy="388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/>
          </a:p>
        </p:txBody>
      </p:sp>
      <p:sp>
        <p:nvSpPr>
          <p:cNvPr id="21" name="圆角矩形 20"/>
          <p:cNvSpPr/>
          <p:nvPr/>
        </p:nvSpPr>
        <p:spPr>
          <a:xfrm>
            <a:off x="4840605" y="4711065"/>
            <a:ext cx="2476500" cy="3886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/>
          </a:p>
        </p:txBody>
      </p:sp>
      <p:sp>
        <p:nvSpPr>
          <p:cNvPr id="22" name="文本框 21"/>
          <p:cNvSpPr txBox="1"/>
          <p:nvPr/>
        </p:nvSpPr>
        <p:spPr>
          <a:xfrm>
            <a:off x="4355465" y="1151890"/>
            <a:ext cx="363283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b="1" noProof="0" dirty="0">
                <a:solidFill>
                  <a:schemeClr val="bg1"/>
                </a:solidFill>
                <a:latin typeface="黑体" charset="0"/>
                <a:ea typeface="黑体" charset="0"/>
              </a:rPr>
              <a:t>乘客端功能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355465" y="4678680"/>
            <a:ext cx="363283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200" b="1" noProof="0" dirty="0">
                <a:solidFill>
                  <a:schemeClr val="bg1"/>
                </a:solidFill>
                <a:latin typeface="黑体" charset="0"/>
                <a:ea typeface="黑体" charset="0"/>
              </a:rPr>
              <a:t>管理员端功能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 animBg="1"/>
      <p:bldP spid="21" grpId="0" animBg="1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6270" y="361315"/>
            <a:ext cx="4450080" cy="706755"/>
          </a:xfr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zh-CN"/>
            </a:defPPr>
            <a:lvl1pPr>
              <a:defRPr sz="7200" spc="100">
                <a:gradFill>
                  <a:gsLst>
                    <a:gs pos="0">
                      <a:srgbClr val="93837D">
                        <a:alpha val="84000"/>
                      </a:srgbClr>
                    </a:gs>
                    <a:gs pos="79000">
                      <a:srgbClr val="265A9A">
                        <a:alpha val="38000"/>
                      </a:srgbClr>
                    </a:gs>
                  </a:gsLst>
                  <a:lin ang="13500000" scaled="1"/>
                </a:gradFill>
                <a:latin typeface="+mj-ea"/>
                <a:ea typeface="阿里巴巴普惠体 B" panose="00020600040101010101" charset="-122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4000" b="0">
                <a:solidFill>
                  <a:schemeClr val="bg1"/>
                </a:solidFill>
                <a:effectLst/>
                <a:latin typeface="字体家AI造字剑客" panose="03000503000000000000" pitchFamily="66" charset="-122"/>
                <a:ea typeface="字体家AI造字剑客" panose="03000503000000000000" pitchFamily="66" charset="-122"/>
                <a:cs typeface="+mn-cs"/>
                <a:sym typeface="+mn-ea"/>
              </a:rPr>
              <a:t>业务逻辑规则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75285" y="1661795"/>
            <a:ext cx="10918190" cy="4734316"/>
            <a:chOff x="591" y="2617"/>
            <a:chExt cx="17194" cy="6808"/>
          </a:xfrm>
        </p:grpSpPr>
        <p:sp>
          <p:nvSpPr>
            <p:cNvPr id="17" name="矩形: 圆角 30"/>
            <p:cNvSpPr/>
            <p:nvPr>
              <p:custDataLst>
                <p:tags r:id="rId2"/>
              </p:custDataLst>
            </p:nvPr>
          </p:nvSpPr>
          <p:spPr>
            <a:xfrm>
              <a:off x="591" y="2617"/>
              <a:ext cx="8269" cy="6808"/>
            </a:xfrm>
            <a:prstGeom prst="roundRect">
              <a:avLst>
                <a:gd name="adj" fmla="val 5263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思源黑体 CN Light" panose="020B0300000000000000" charset="-122"/>
              </a:endParaRPr>
            </a:p>
          </p:txBody>
        </p:sp>
        <p:sp>
          <p:nvSpPr>
            <p:cNvPr id="7" name="矩形: 圆角 30"/>
            <p:cNvSpPr/>
            <p:nvPr>
              <p:custDataLst>
                <p:tags r:id="rId3"/>
              </p:custDataLst>
            </p:nvPr>
          </p:nvSpPr>
          <p:spPr>
            <a:xfrm>
              <a:off x="9600" y="2617"/>
              <a:ext cx="8185" cy="6808"/>
            </a:xfrm>
            <a:prstGeom prst="roundRect">
              <a:avLst>
                <a:gd name="adj" fmla="val 5263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思源黑体 CN Light" panose="020B0300000000000000" charset="-122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4"/>
              </p:custDataLst>
            </p:nvPr>
          </p:nvSpPr>
          <p:spPr>
            <a:xfrm>
              <a:off x="839" y="4176"/>
              <a:ext cx="8022" cy="47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 anchor="t">
              <a:spAutoFit/>
            </a:bodyPr>
            <a:lstStyle/>
            <a:p>
              <a:pPr lvl="0" algn="ctr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票价计算规则</a:t>
              </a: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1.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定价模型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：</a:t>
              </a: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实际售价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=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基准价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en-US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×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淡旺季系数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en-US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×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会员折扣率</a:t>
              </a: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2.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计算流程：</a:t>
              </a: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查询航班与舱位对应的标准票价。</a:t>
              </a: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日期决定淡旺季；提前天数与会员等级决定折扣。</a:t>
              </a:r>
            </a:p>
            <a:p>
              <a:pPr lvl="0" algn="just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计算最终价格并写入记录，防止后续变动影响。</a:t>
              </a:r>
            </a:p>
          </p:txBody>
        </p:sp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10005" y="4176"/>
              <a:ext cx="7375" cy="49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并发控制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并发购票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：</a:t>
              </a:r>
            </a:p>
            <a:p>
              <a:pPr algn="just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采用悲观锁机制，杜绝超卖现象。</a:t>
              </a:r>
            </a:p>
            <a:p>
              <a:pPr algn="just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重复退票：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通过排他锁确保退票请求串行处理，防止重复退票。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原子性改签：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r>
                <a: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开启事务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→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锁定旧订单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→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锁定新航班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→ </a:t>
              </a:r>
              <a:r>
                <a: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归还旧座位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→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原子扣减新座位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→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更新旧订单状态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→ </a:t>
              </a:r>
              <a:r>
                <a: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插入新订单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→ </a:t>
              </a:r>
              <a:r>
                <a: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提交事务</a:t>
              </a:r>
            </a:p>
            <a:p>
              <a:pPr algn="just">
                <a:lnSpc>
                  <a:spcPct val="130000"/>
                </a:lnSpc>
              </a:pP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3" name="Freeform 5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4315" y="3031"/>
              <a:ext cx="820" cy="82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55" y="135"/>
                </a:cxn>
                <a:cxn ang="0">
                  <a:pos x="277" y="122"/>
                </a:cxn>
                <a:cxn ang="0">
                  <a:pos x="303" y="116"/>
                </a:cxn>
                <a:cxn ang="0">
                  <a:pos x="296" y="105"/>
                </a:cxn>
                <a:cxn ang="0">
                  <a:pos x="278" y="89"/>
                </a:cxn>
                <a:cxn ang="0">
                  <a:pos x="265" y="90"/>
                </a:cxn>
                <a:cxn ang="0">
                  <a:pos x="256" y="82"/>
                </a:cxn>
                <a:cxn ang="0">
                  <a:pos x="231" y="73"/>
                </a:cxn>
                <a:cxn ang="0">
                  <a:pos x="234" y="98"/>
                </a:cxn>
                <a:cxn ang="0">
                  <a:pos x="224" y="118"/>
                </a:cxn>
                <a:cxn ang="0">
                  <a:pos x="205" y="103"/>
                </a:cxn>
                <a:cxn ang="0">
                  <a:pos x="175" y="89"/>
                </a:cxn>
                <a:cxn ang="0">
                  <a:pos x="183" y="68"/>
                </a:cxn>
                <a:cxn ang="0">
                  <a:pos x="212" y="58"/>
                </a:cxn>
                <a:cxn ang="0">
                  <a:pos x="207" y="47"/>
                </a:cxn>
                <a:cxn ang="0">
                  <a:pos x="188" y="50"/>
                </a:cxn>
                <a:cxn ang="0">
                  <a:pos x="168" y="37"/>
                </a:cxn>
                <a:cxn ang="0">
                  <a:pos x="171" y="52"/>
                </a:cxn>
                <a:cxn ang="0">
                  <a:pos x="157" y="52"/>
                </a:cxn>
                <a:cxn ang="0">
                  <a:pos x="141" y="40"/>
                </a:cxn>
                <a:cxn ang="0">
                  <a:pos x="126" y="47"/>
                </a:cxn>
                <a:cxn ang="0">
                  <a:pos x="143" y="51"/>
                </a:cxn>
                <a:cxn ang="0">
                  <a:pos x="131" y="58"/>
                </a:cxn>
                <a:cxn ang="0">
                  <a:pos x="56" y="107"/>
                </a:cxn>
                <a:cxn ang="0">
                  <a:pos x="65" y="118"/>
                </a:cxn>
                <a:cxn ang="0">
                  <a:pos x="79" y="135"/>
                </a:cxn>
                <a:cxn ang="0">
                  <a:pos x="74" y="158"/>
                </a:cxn>
                <a:cxn ang="0">
                  <a:pos x="88" y="185"/>
                </a:cxn>
                <a:cxn ang="0">
                  <a:pos x="108" y="214"/>
                </a:cxn>
                <a:cxn ang="0">
                  <a:pos x="118" y="227"/>
                </a:cxn>
                <a:cxn ang="0">
                  <a:pos x="105" y="197"/>
                </a:cxn>
                <a:cxn ang="0">
                  <a:pos x="125" y="225"/>
                </a:cxn>
                <a:cxn ang="0">
                  <a:pos x="150" y="255"/>
                </a:cxn>
                <a:cxn ang="0">
                  <a:pos x="184" y="269"/>
                </a:cxn>
                <a:cxn ang="0">
                  <a:pos x="213" y="290"/>
                </a:cxn>
                <a:cxn ang="0">
                  <a:pos x="224" y="288"/>
                </a:cxn>
                <a:cxn ang="0">
                  <a:pos x="212" y="268"/>
                </a:cxn>
                <a:cxn ang="0">
                  <a:pos x="197" y="262"/>
                </a:cxn>
                <a:cxn ang="0">
                  <a:pos x="194" y="239"/>
                </a:cxn>
                <a:cxn ang="0">
                  <a:pos x="171" y="250"/>
                </a:cxn>
                <a:cxn ang="0">
                  <a:pos x="168" y="210"/>
                </a:cxn>
                <a:cxn ang="0">
                  <a:pos x="184" y="206"/>
                </a:cxn>
                <a:cxn ang="0">
                  <a:pos x="196" y="202"/>
                </a:cxn>
                <a:cxn ang="0">
                  <a:pos x="214" y="211"/>
                </a:cxn>
                <a:cxn ang="0">
                  <a:pos x="221" y="205"/>
                </a:cxn>
                <a:cxn ang="0">
                  <a:pos x="234" y="179"/>
                </a:cxn>
                <a:cxn ang="0">
                  <a:pos x="233" y="171"/>
                </a:cxn>
                <a:cxn ang="0">
                  <a:pos x="252" y="157"/>
                </a:cxn>
                <a:cxn ang="0">
                  <a:pos x="266" y="143"/>
                </a:cxn>
                <a:cxn ang="0">
                  <a:pos x="273" y="131"/>
                </a:cxn>
                <a:cxn ang="0">
                  <a:pos x="255" y="135"/>
                </a:cxn>
                <a:cxn ang="0">
                  <a:pos x="295" y="298"/>
                </a:cxn>
                <a:cxn ang="0">
                  <a:pos x="272" y="288"/>
                </a:cxn>
                <a:cxn ang="0">
                  <a:pos x="251" y="288"/>
                </a:cxn>
                <a:cxn ang="0">
                  <a:pos x="236" y="286"/>
                </a:cxn>
                <a:cxn ang="0">
                  <a:pos x="230" y="307"/>
                </a:cxn>
                <a:cxn ang="0">
                  <a:pos x="223" y="335"/>
                </a:cxn>
                <a:cxn ang="0">
                  <a:pos x="308" y="302"/>
                </a:cxn>
              </a:cxnLst>
              <a:rect l="0" t="0" r="r" b="b"/>
              <a:pathLst>
                <a:path w="384" h="384">
                  <a:moveTo>
                    <a:pt x="384" y="192"/>
                  </a:moveTo>
                  <a:cubicBezTo>
                    <a:pt x="384" y="298"/>
                    <a:pt x="298" y="384"/>
                    <a:pt x="192" y="384"/>
                  </a:cubicBezTo>
                  <a:cubicBezTo>
                    <a:pt x="86" y="384"/>
                    <a:pt x="0" y="298"/>
                    <a:pt x="0" y="192"/>
                  </a:cubicBezTo>
                  <a:cubicBezTo>
                    <a:pt x="0" y="86"/>
                    <a:pt x="86" y="0"/>
                    <a:pt x="192" y="0"/>
                  </a:cubicBezTo>
                  <a:cubicBezTo>
                    <a:pt x="298" y="0"/>
                    <a:pt x="384" y="86"/>
                    <a:pt x="384" y="192"/>
                  </a:cubicBezTo>
                  <a:close/>
                  <a:moveTo>
                    <a:pt x="255" y="135"/>
                  </a:moveTo>
                  <a:cubicBezTo>
                    <a:pt x="256" y="135"/>
                    <a:pt x="257" y="130"/>
                    <a:pt x="258" y="129"/>
                  </a:cubicBezTo>
                  <a:cubicBezTo>
                    <a:pt x="260" y="127"/>
                    <a:pt x="262" y="126"/>
                    <a:pt x="264" y="125"/>
                  </a:cubicBezTo>
                  <a:cubicBezTo>
                    <a:pt x="268" y="124"/>
                    <a:pt x="272" y="123"/>
                    <a:pt x="277" y="122"/>
                  </a:cubicBezTo>
                  <a:cubicBezTo>
                    <a:pt x="281" y="121"/>
                    <a:pt x="286" y="121"/>
                    <a:pt x="289" y="125"/>
                  </a:cubicBezTo>
                  <a:cubicBezTo>
                    <a:pt x="289" y="124"/>
                    <a:pt x="295" y="119"/>
                    <a:pt x="295" y="119"/>
                  </a:cubicBezTo>
                  <a:cubicBezTo>
                    <a:pt x="298" y="118"/>
                    <a:pt x="301" y="118"/>
                    <a:pt x="303" y="116"/>
                  </a:cubicBezTo>
                  <a:cubicBezTo>
                    <a:pt x="303" y="115"/>
                    <a:pt x="303" y="110"/>
                    <a:pt x="303" y="110"/>
                  </a:cubicBezTo>
                  <a:cubicBezTo>
                    <a:pt x="299" y="111"/>
                    <a:pt x="298" y="107"/>
                    <a:pt x="297" y="103"/>
                  </a:cubicBezTo>
                  <a:cubicBezTo>
                    <a:pt x="297" y="104"/>
                    <a:pt x="297" y="104"/>
                    <a:pt x="296" y="105"/>
                  </a:cubicBezTo>
                  <a:cubicBezTo>
                    <a:pt x="296" y="102"/>
                    <a:pt x="291" y="104"/>
                    <a:pt x="290" y="104"/>
                  </a:cubicBezTo>
                  <a:cubicBezTo>
                    <a:pt x="284" y="102"/>
                    <a:pt x="285" y="98"/>
                    <a:pt x="283" y="94"/>
                  </a:cubicBezTo>
                  <a:cubicBezTo>
                    <a:pt x="282" y="92"/>
                    <a:pt x="279" y="91"/>
                    <a:pt x="278" y="89"/>
                  </a:cubicBezTo>
                  <a:cubicBezTo>
                    <a:pt x="277" y="87"/>
                    <a:pt x="277" y="84"/>
                    <a:pt x="274" y="84"/>
                  </a:cubicBezTo>
                  <a:cubicBezTo>
                    <a:pt x="273" y="84"/>
                    <a:pt x="270" y="89"/>
                    <a:pt x="270" y="89"/>
                  </a:cubicBezTo>
                  <a:cubicBezTo>
                    <a:pt x="267" y="88"/>
                    <a:pt x="266" y="89"/>
                    <a:pt x="265" y="90"/>
                  </a:cubicBezTo>
                  <a:cubicBezTo>
                    <a:pt x="263" y="91"/>
                    <a:pt x="262" y="91"/>
                    <a:pt x="260" y="92"/>
                  </a:cubicBezTo>
                  <a:cubicBezTo>
                    <a:pt x="265" y="90"/>
                    <a:pt x="258" y="88"/>
                    <a:pt x="256" y="88"/>
                  </a:cubicBezTo>
                  <a:cubicBezTo>
                    <a:pt x="260" y="87"/>
                    <a:pt x="258" y="83"/>
                    <a:pt x="256" y="82"/>
                  </a:cubicBezTo>
                  <a:cubicBezTo>
                    <a:pt x="256" y="82"/>
                    <a:pt x="257" y="82"/>
                    <a:pt x="257" y="82"/>
                  </a:cubicBezTo>
                  <a:cubicBezTo>
                    <a:pt x="257" y="79"/>
                    <a:pt x="250" y="77"/>
                    <a:pt x="247" y="76"/>
                  </a:cubicBezTo>
                  <a:cubicBezTo>
                    <a:pt x="245" y="74"/>
                    <a:pt x="233" y="72"/>
                    <a:pt x="231" y="73"/>
                  </a:cubicBezTo>
                  <a:cubicBezTo>
                    <a:pt x="228" y="75"/>
                    <a:pt x="231" y="80"/>
                    <a:pt x="231" y="83"/>
                  </a:cubicBezTo>
                  <a:cubicBezTo>
                    <a:pt x="232" y="86"/>
                    <a:pt x="228" y="86"/>
                    <a:pt x="228" y="89"/>
                  </a:cubicBezTo>
                  <a:cubicBezTo>
                    <a:pt x="228" y="93"/>
                    <a:pt x="236" y="92"/>
                    <a:pt x="234" y="98"/>
                  </a:cubicBezTo>
                  <a:cubicBezTo>
                    <a:pt x="233" y="102"/>
                    <a:pt x="228" y="102"/>
                    <a:pt x="226" y="105"/>
                  </a:cubicBezTo>
                  <a:cubicBezTo>
                    <a:pt x="224" y="108"/>
                    <a:pt x="227" y="112"/>
                    <a:pt x="229" y="114"/>
                  </a:cubicBezTo>
                  <a:cubicBezTo>
                    <a:pt x="231" y="115"/>
                    <a:pt x="225" y="118"/>
                    <a:pt x="224" y="118"/>
                  </a:cubicBezTo>
                  <a:cubicBezTo>
                    <a:pt x="220" y="120"/>
                    <a:pt x="217" y="114"/>
                    <a:pt x="216" y="110"/>
                  </a:cubicBezTo>
                  <a:cubicBezTo>
                    <a:pt x="215" y="108"/>
                    <a:pt x="215" y="104"/>
                    <a:pt x="212" y="103"/>
                  </a:cubicBezTo>
                  <a:cubicBezTo>
                    <a:pt x="210" y="102"/>
                    <a:pt x="206" y="102"/>
                    <a:pt x="205" y="103"/>
                  </a:cubicBezTo>
                  <a:cubicBezTo>
                    <a:pt x="203" y="99"/>
                    <a:pt x="198" y="98"/>
                    <a:pt x="194" y="97"/>
                  </a:cubicBezTo>
                  <a:cubicBezTo>
                    <a:pt x="189" y="95"/>
                    <a:pt x="185" y="95"/>
                    <a:pt x="180" y="96"/>
                  </a:cubicBezTo>
                  <a:cubicBezTo>
                    <a:pt x="181" y="95"/>
                    <a:pt x="179" y="88"/>
                    <a:pt x="175" y="89"/>
                  </a:cubicBezTo>
                  <a:cubicBezTo>
                    <a:pt x="176" y="86"/>
                    <a:pt x="176" y="84"/>
                    <a:pt x="176" y="81"/>
                  </a:cubicBezTo>
                  <a:cubicBezTo>
                    <a:pt x="177" y="79"/>
                    <a:pt x="178" y="77"/>
                    <a:pt x="179" y="75"/>
                  </a:cubicBezTo>
                  <a:cubicBezTo>
                    <a:pt x="180" y="74"/>
                    <a:pt x="185" y="69"/>
                    <a:pt x="183" y="68"/>
                  </a:cubicBezTo>
                  <a:cubicBezTo>
                    <a:pt x="188" y="69"/>
                    <a:pt x="193" y="69"/>
                    <a:pt x="196" y="66"/>
                  </a:cubicBezTo>
                  <a:cubicBezTo>
                    <a:pt x="198" y="63"/>
                    <a:pt x="199" y="60"/>
                    <a:pt x="202" y="57"/>
                  </a:cubicBezTo>
                  <a:cubicBezTo>
                    <a:pt x="205" y="53"/>
                    <a:pt x="209" y="58"/>
                    <a:pt x="212" y="58"/>
                  </a:cubicBezTo>
                  <a:cubicBezTo>
                    <a:pt x="217" y="59"/>
                    <a:pt x="217" y="53"/>
                    <a:pt x="214" y="51"/>
                  </a:cubicBezTo>
                  <a:cubicBezTo>
                    <a:pt x="218" y="51"/>
                    <a:pt x="215" y="45"/>
                    <a:pt x="213" y="44"/>
                  </a:cubicBezTo>
                  <a:cubicBezTo>
                    <a:pt x="211" y="43"/>
                    <a:pt x="202" y="46"/>
                    <a:pt x="207" y="47"/>
                  </a:cubicBezTo>
                  <a:cubicBezTo>
                    <a:pt x="206" y="47"/>
                    <a:pt x="200" y="59"/>
                    <a:pt x="196" y="53"/>
                  </a:cubicBezTo>
                  <a:cubicBezTo>
                    <a:pt x="195" y="52"/>
                    <a:pt x="195" y="47"/>
                    <a:pt x="193" y="46"/>
                  </a:cubicBezTo>
                  <a:cubicBezTo>
                    <a:pt x="190" y="46"/>
                    <a:pt x="189" y="49"/>
                    <a:pt x="188" y="50"/>
                  </a:cubicBezTo>
                  <a:cubicBezTo>
                    <a:pt x="190" y="47"/>
                    <a:pt x="181" y="45"/>
                    <a:pt x="180" y="44"/>
                  </a:cubicBezTo>
                  <a:cubicBezTo>
                    <a:pt x="183" y="42"/>
                    <a:pt x="180" y="39"/>
                    <a:pt x="178" y="38"/>
                  </a:cubicBezTo>
                  <a:cubicBezTo>
                    <a:pt x="176" y="36"/>
                    <a:pt x="169" y="35"/>
                    <a:pt x="168" y="37"/>
                  </a:cubicBezTo>
                  <a:cubicBezTo>
                    <a:pt x="163" y="43"/>
                    <a:pt x="173" y="44"/>
                    <a:pt x="175" y="45"/>
                  </a:cubicBezTo>
                  <a:cubicBezTo>
                    <a:pt x="176" y="46"/>
                    <a:pt x="179" y="48"/>
                    <a:pt x="177" y="49"/>
                  </a:cubicBezTo>
                  <a:cubicBezTo>
                    <a:pt x="176" y="50"/>
                    <a:pt x="171" y="51"/>
                    <a:pt x="171" y="52"/>
                  </a:cubicBezTo>
                  <a:cubicBezTo>
                    <a:pt x="169" y="54"/>
                    <a:pt x="172" y="57"/>
                    <a:pt x="170" y="59"/>
                  </a:cubicBezTo>
                  <a:cubicBezTo>
                    <a:pt x="168" y="57"/>
                    <a:pt x="168" y="53"/>
                    <a:pt x="166" y="50"/>
                  </a:cubicBezTo>
                  <a:cubicBezTo>
                    <a:pt x="168" y="53"/>
                    <a:pt x="157" y="52"/>
                    <a:pt x="157" y="52"/>
                  </a:cubicBezTo>
                  <a:cubicBezTo>
                    <a:pt x="154" y="52"/>
                    <a:pt x="148" y="54"/>
                    <a:pt x="145" y="50"/>
                  </a:cubicBezTo>
                  <a:cubicBezTo>
                    <a:pt x="144" y="49"/>
                    <a:pt x="144" y="44"/>
                    <a:pt x="146" y="45"/>
                  </a:cubicBezTo>
                  <a:cubicBezTo>
                    <a:pt x="144" y="43"/>
                    <a:pt x="142" y="41"/>
                    <a:pt x="141" y="40"/>
                  </a:cubicBezTo>
                  <a:cubicBezTo>
                    <a:pt x="132" y="43"/>
                    <a:pt x="125" y="47"/>
                    <a:pt x="117" y="51"/>
                  </a:cubicBezTo>
                  <a:cubicBezTo>
                    <a:pt x="118" y="51"/>
                    <a:pt x="119" y="51"/>
                    <a:pt x="120" y="50"/>
                  </a:cubicBezTo>
                  <a:cubicBezTo>
                    <a:pt x="122" y="50"/>
                    <a:pt x="124" y="48"/>
                    <a:pt x="126" y="47"/>
                  </a:cubicBezTo>
                  <a:cubicBezTo>
                    <a:pt x="128" y="46"/>
                    <a:pt x="134" y="43"/>
                    <a:pt x="136" y="46"/>
                  </a:cubicBezTo>
                  <a:cubicBezTo>
                    <a:pt x="137" y="45"/>
                    <a:pt x="137" y="45"/>
                    <a:pt x="138" y="44"/>
                  </a:cubicBezTo>
                  <a:cubicBezTo>
                    <a:pt x="139" y="46"/>
                    <a:pt x="141" y="48"/>
                    <a:pt x="143" y="51"/>
                  </a:cubicBezTo>
                  <a:cubicBezTo>
                    <a:pt x="141" y="50"/>
                    <a:pt x="137" y="50"/>
                    <a:pt x="135" y="50"/>
                  </a:cubicBezTo>
                  <a:cubicBezTo>
                    <a:pt x="133" y="51"/>
                    <a:pt x="130" y="51"/>
                    <a:pt x="130" y="53"/>
                  </a:cubicBezTo>
                  <a:cubicBezTo>
                    <a:pt x="130" y="55"/>
                    <a:pt x="131" y="57"/>
                    <a:pt x="131" y="58"/>
                  </a:cubicBezTo>
                  <a:cubicBezTo>
                    <a:pt x="128" y="56"/>
                    <a:pt x="125" y="52"/>
                    <a:pt x="121" y="51"/>
                  </a:cubicBezTo>
                  <a:cubicBezTo>
                    <a:pt x="119" y="51"/>
                    <a:pt x="117" y="51"/>
                    <a:pt x="115" y="52"/>
                  </a:cubicBezTo>
                  <a:cubicBezTo>
                    <a:pt x="91" y="65"/>
                    <a:pt x="71" y="84"/>
                    <a:pt x="56" y="107"/>
                  </a:cubicBezTo>
                  <a:cubicBezTo>
                    <a:pt x="57" y="108"/>
                    <a:pt x="58" y="109"/>
                    <a:pt x="59" y="109"/>
                  </a:cubicBezTo>
                  <a:cubicBezTo>
                    <a:pt x="62" y="110"/>
                    <a:pt x="59" y="117"/>
                    <a:pt x="64" y="113"/>
                  </a:cubicBezTo>
                  <a:cubicBezTo>
                    <a:pt x="66" y="115"/>
                    <a:pt x="66" y="116"/>
                    <a:pt x="65" y="118"/>
                  </a:cubicBezTo>
                  <a:cubicBezTo>
                    <a:pt x="65" y="118"/>
                    <a:pt x="75" y="124"/>
                    <a:pt x="76" y="125"/>
                  </a:cubicBezTo>
                  <a:cubicBezTo>
                    <a:pt x="78" y="126"/>
                    <a:pt x="80" y="128"/>
                    <a:pt x="81" y="130"/>
                  </a:cubicBezTo>
                  <a:cubicBezTo>
                    <a:pt x="82" y="132"/>
                    <a:pt x="80" y="134"/>
                    <a:pt x="79" y="135"/>
                  </a:cubicBezTo>
                  <a:cubicBezTo>
                    <a:pt x="78" y="134"/>
                    <a:pt x="75" y="130"/>
                    <a:pt x="74" y="131"/>
                  </a:cubicBezTo>
                  <a:cubicBezTo>
                    <a:pt x="73" y="133"/>
                    <a:pt x="74" y="139"/>
                    <a:pt x="77" y="139"/>
                  </a:cubicBezTo>
                  <a:cubicBezTo>
                    <a:pt x="73" y="139"/>
                    <a:pt x="75" y="155"/>
                    <a:pt x="74" y="158"/>
                  </a:cubicBezTo>
                  <a:cubicBezTo>
                    <a:pt x="74" y="158"/>
                    <a:pt x="74" y="158"/>
                    <a:pt x="74" y="158"/>
                  </a:cubicBezTo>
                  <a:cubicBezTo>
                    <a:pt x="73" y="161"/>
                    <a:pt x="76" y="173"/>
                    <a:pt x="81" y="172"/>
                  </a:cubicBezTo>
                  <a:cubicBezTo>
                    <a:pt x="78" y="172"/>
                    <a:pt x="87" y="184"/>
                    <a:pt x="88" y="185"/>
                  </a:cubicBezTo>
                  <a:cubicBezTo>
                    <a:pt x="91" y="187"/>
                    <a:pt x="95" y="188"/>
                    <a:pt x="97" y="192"/>
                  </a:cubicBezTo>
                  <a:cubicBezTo>
                    <a:pt x="100" y="195"/>
                    <a:pt x="100" y="201"/>
                    <a:pt x="103" y="203"/>
                  </a:cubicBezTo>
                  <a:cubicBezTo>
                    <a:pt x="102" y="206"/>
                    <a:pt x="108" y="210"/>
                    <a:pt x="108" y="214"/>
                  </a:cubicBezTo>
                  <a:cubicBezTo>
                    <a:pt x="108" y="214"/>
                    <a:pt x="107" y="214"/>
                    <a:pt x="107" y="215"/>
                  </a:cubicBezTo>
                  <a:cubicBezTo>
                    <a:pt x="108" y="218"/>
                    <a:pt x="113" y="218"/>
                    <a:pt x="115" y="221"/>
                  </a:cubicBezTo>
                  <a:cubicBezTo>
                    <a:pt x="116" y="223"/>
                    <a:pt x="115" y="228"/>
                    <a:pt x="118" y="227"/>
                  </a:cubicBezTo>
                  <a:cubicBezTo>
                    <a:pt x="118" y="222"/>
                    <a:pt x="115" y="216"/>
                    <a:pt x="112" y="212"/>
                  </a:cubicBezTo>
                  <a:cubicBezTo>
                    <a:pt x="110" y="209"/>
                    <a:pt x="109" y="207"/>
                    <a:pt x="108" y="204"/>
                  </a:cubicBezTo>
                  <a:cubicBezTo>
                    <a:pt x="106" y="202"/>
                    <a:pt x="106" y="199"/>
                    <a:pt x="105" y="197"/>
                  </a:cubicBezTo>
                  <a:cubicBezTo>
                    <a:pt x="106" y="197"/>
                    <a:pt x="112" y="199"/>
                    <a:pt x="111" y="200"/>
                  </a:cubicBezTo>
                  <a:cubicBezTo>
                    <a:pt x="109" y="205"/>
                    <a:pt x="119" y="214"/>
                    <a:pt x="122" y="217"/>
                  </a:cubicBezTo>
                  <a:cubicBezTo>
                    <a:pt x="123" y="218"/>
                    <a:pt x="128" y="225"/>
                    <a:pt x="125" y="225"/>
                  </a:cubicBezTo>
                  <a:cubicBezTo>
                    <a:pt x="129" y="225"/>
                    <a:pt x="133" y="230"/>
                    <a:pt x="135" y="233"/>
                  </a:cubicBezTo>
                  <a:cubicBezTo>
                    <a:pt x="137" y="236"/>
                    <a:pt x="136" y="241"/>
                    <a:pt x="138" y="245"/>
                  </a:cubicBezTo>
                  <a:cubicBezTo>
                    <a:pt x="139" y="250"/>
                    <a:pt x="146" y="252"/>
                    <a:pt x="150" y="255"/>
                  </a:cubicBezTo>
                  <a:cubicBezTo>
                    <a:pt x="154" y="256"/>
                    <a:pt x="157" y="259"/>
                    <a:pt x="160" y="260"/>
                  </a:cubicBezTo>
                  <a:cubicBezTo>
                    <a:pt x="166" y="262"/>
                    <a:pt x="167" y="260"/>
                    <a:pt x="171" y="260"/>
                  </a:cubicBezTo>
                  <a:cubicBezTo>
                    <a:pt x="178" y="259"/>
                    <a:pt x="179" y="266"/>
                    <a:pt x="184" y="269"/>
                  </a:cubicBezTo>
                  <a:cubicBezTo>
                    <a:pt x="187" y="270"/>
                    <a:pt x="194" y="273"/>
                    <a:pt x="198" y="271"/>
                  </a:cubicBezTo>
                  <a:cubicBezTo>
                    <a:pt x="196" y="272"/>
                    <a:pt x="203" y="282"/>
                    <a:pt x="204" y="283"/>
                  </a:cubicBezTo>
                  <a:cubicBezTo>
                    <a:pt x="206" y="286"/>
                    <a:pt x="210" y="287"/>
                    <a:pt x="213" y="290"/>
                  </a:cubicBezTo>
                  <a:cubicBezTo>
                    <a:pt x="213" y="290"/>
                    <a:pt x="214" y="289"/>
                    <a:pt x="214" y="288"/>
                  </a:cubicBezTo>
                  <a:cubicBezTo>
                    <a:pt x="213" y="291"/>
                    <a:pt x="218" y="296"/>
                    <a:pt x="221" y="296"/>
                  </a:cubicBezTo>
                  <a:cubicBezTo>
                    <a:pt x="223" y="295"/>
                    <a:pt x="224" y="290"/>
                    <a:pt x="224" y="288"/>
                  </a:cubicBezTo>
                  <a:cubicBezTo>
                    <a:pt x="219" y="290"/>
                    <a:pt x="215" y="288"/>
                    <a:pt x="212" y="283"/>
                  </a:cubicBezTo>
                  <a:cubicBezTo>
                    <a:pt x="211" y="282"/>
                    <a:pt x="207" y="275"/>
                    <a:pt x="211" y="275"/>
                  </a:cubicBezTo>
                  <a:cubicBezTo>
                    <a:pt x="216" y="275"/>
                    <a:pt x="212" y="271"/>
                    <a:pt x="212" y="268"/>
                  </a:cubicBezTo>
                  <a:cubicBezTo>
                    <a:pt x="211" y="264"/>
                    <a:pt x="208" y="262"/>
                    <a:pt x="206" y="259"/>
                  </a:cubicBezTo>
                  <a:cubicBezTo>
                    <a:pt x="205" y="262"/>
                    <a:pt x="200" y="261"/>
                    <a:pt x="198" y="259"/>
                  </a:cubicBezTo>
                  <a:cubicBezTo>
                    <a:pt x="198" y="259"/>
                    <a:pt x="197" y="261"/>
                    <a:pt x="197" y="262"/>
                  </a:cubicBezTo>
                  <a:cubicBezTo>
                    <a:pt x="196" y="262"/>
                    <a:pt x="195" y="262"/>
                    <a:pt x="194" y="261"/>
                  </a:cubicBezTo>
                  <a:cubicBezTo>
                    <a:pt x="194" y="258"/>
                    <a:pt x="194" y="255"/>
                    <a:pt x="195" y="251"/>
                  </a:cubicBezTo>
                  <a:cubicBezTo>
                    <a:pt x="196" y="247"/>
                    <a:pt x="205" y="238"/>
                    <a:pt x="194" y="239"/>
                  </a:cubicBezTo>
                  <a:cubicBezTo>
                    <a:pt x="190" y="239"/>
                    <a:pt x="188" y="240"/>
                    <a:pt x="187" y="244"/>
                  </a:cubicBezTo>
                  <a:cubicBezTo>
                    <a:pt x="186" y="247"/>
                    <a:pt x="186" y="249"/>
                    <a:pt x="183" y="251"/>
                  </a:cubicBezTo>
                  <a:cubicBezTo>
                    <a:pt x="181" y="252"/>
                    <a:pt x="173" y="251"/>
                    <a:pt x="171" y="250"/>
                  </a:cubicBezTo>
                  <a:cubicBezTo>
                    <a:pt x="166" y="247"/>
                    <a:pt x="163" y="239"/>
                    <a:pt x="163" y="234"/>
                  </a:cubicBezTo>
                  <a:cubicBezTo>
                    <a:pt x="163" y="227"/>
                    <a:pt x="166" y="221"/>
                    <a:pt x="163" y="215"/>
                  </a:cubicBezTo>
                  <a:cubicBezTo>
                    <a:pt x="164" y="213"/>
                    <a:pt x="166" y="211"/>
                    <a:pt x="168" y="210"/>
                  </a:cubicBezTo>
                  <a:cubicBezTo>
                    <a:pt x="169" y="209"/>
                    <a:pt x="171" y="210"/>
                    <a:pt x="172" y="207"/>
                  </a:cubicBezTo>
                  <a:cubicBezTo>
                    <a:pt x="171" y="207"/>
                    <a:pt x="170" y="206"/>
                    <a:pt x="170" y="206"/>
                  </a:cubicBezTo>
                  <a:cubicBezTo>
                    <a:pt x="173" y="208"/>
                    <a:pt x="180" y="203"/>
                    <a:pt x="184" y="206"/>
                  </a:cubicBezTo>
                  <a:cubicBezTo>
                    <a:pt x="186" y="207"/>
                    <a:pt x="188" y="208"/>
                    <a:pt x="189" y="205"/>
                  </a:cubicBezTo>
                  <a:cubicBezTo>
                    <a:pt x="189" y="205"/>
                    <a:pt x="187" y="202"/>
                    <a:pt x="188" y="200"/>
                  </a:cubicBezTo>
                  <a:cubicBezTo>
                    <a:pt x="189" y="204"/>
                    <a:pt x="192" y="205"/>
                    <a:pt x="196" y="202"/>
                  </a:cubicBezTo>
                  <a:cubicBezTo>
                    <a:pt x="197" y="203"/>
                    <a:pt x="201" y="203"/>
                    <a:pt x="204" y="204"/>
                  </a:cubicBezTo>
                  <a:cubicBezTo>
                    <a:pt x="207" y="206"/>
                    <a:pt x="207" y="209"/>
                    <a:pt x="211" y="205"/>
                  </a:cubicBezTo>
                  <a:cubicBezTo>
                    <a:pt x="213" y="208"/>
                    <a:pt x="213" y="208"/>
                    <a:pt x="214" y="211"/>
                  </a:cubicBezTo>
                  <a:cubicBezTo>
                    <a:pt x="214" y="214"/>
                    <a:pt x="216" y="221"/>
                    <a:pt x="218" y="222"/>
                  </a:cubicBezTo>
                  <a:cubicBezTo>
                    <a:pt x="224" y="225"/>
                    <a:pt x="222" y="217"/>
                    <a:pt x="222" y="214"/>
                  </a:cubicBezTo>
                  <a:cubicBezTo>
                    <a:pt x="222" y="213"/>
                    <a:pt x="222" y="205"/>
                    <a:pt x="221" y="205"/>
                  </a:cubicBezTo>
                  <a:cubicBezTo>
                    <a:pt x="213" y="203"/>
                    <a:pt x="216" y="197"/>
                    <a:pt x="221" y="193"/>
                  </a:cubicBezTo>
                  <a:cubicBezTo>
                    <a:pt x="222" y="192"/>
                    <a:pt x="227" y="190"/>
                    <a:pt x="230" y="188"/>
                  </a:cubicBezTo>
                  <a:cubicBezTo>
                    <a:pt x="232" y="186"/>
                    <a:pt x="235" y="183"/>
                    <a:pt x="234" y="179"/>
                  </a:cubicBezTo>
                  <a:cubicBezTo>
                    <a:pt x="235" y="179"/>
                    <a:pt x="236" y="178"/>
                    <a:pt x="236" y="177"/>
                  </a:cubicBezTo>
                  <a:cubicBezTo>
                    <a:pt x="236" y="177"/>
                    <a:pt x="233" y="174"/>
                    <a:pt x="232" y="175"/>
                  </a:cubicBezTo>
                  <a:cubicBezTo>
                    <a:pt x="234" y="174"/>
                    <a:pt x="234" y="172"/>
                    <a:pt x="233" y="171"/>
                  </a:cubicBezTo>
                  <a:cubicBezTo>
                    <a:pt x="235" y="169"/>
                    <a:pt x="234" y="166"/>
                    <a:pt x="236" y="165"/>
                  </a:cubicBezTo>
                  <a:cubicBezTo>
                    <a:pt x="239" y="169"/>
                    <a:pt x="245" y="165"/>
                    <a:pt x="242" y="162"/>
                  </a:cubicBezTo>
                  <a:cubicBezTo>
                    <a:pt x="244" y="158"/>
                    <a:pt x="250" y="160"/>
                    <a:pt x="252" y="157"/>
                  </a:cubicBezTo>
                  <a:cubicBezTo>
                    <a:pt x="255" y="158"/>
                    <a:pt x="253" y="153"/>
                    <a:pt x="255" y="150"/>
                  </a:cubicBezTo>
                  <a:cubicBezTo>
                    <a:pt x="256" y="148"/>
                    <a:pt x="259" y="148"/>
                    <a:pt x="262" y="147"/>
                  </a:cubicBezTo>
                  <a:cubicBezTo>
                    <a:pt x="262" y="147"/>
                    <a:pt x="268" y="143"/>
                    <a:pt x="266" y="143"/>
                  </a:cubicBezTo>
                  <a:cubicBezTo>
                    <a:pt x="270" y="144"/>
                    <a:pt x="279" y="139"/>
                    <a:pt x="272" y="135"/>
                  </a:cubicBezTo>
                  <a:cubicBezTo>
                    <a:pt x="273" y="133"/>
                    <a:pt x="270" y="132"/>
                    <a:pt x="268" y="132"/>
                  </a:cubicBezTo>
                  <a:cubicBezTo>
                    <a:pt x="269" y="131"/>
                    <a:pt x="272" y="132"/>
                    <a:pt x="273" y="131"/>
                  </a:cubicBezTo>
                  <a:cubicBezTo>
                    <a:pt x="276" y="129"/>
                    <a:pt x="274" y="128"/>
                    <a:pt x="271" y="127"/>
                  </a:cubicBezTo>
                  <a:cubicBezTo>
                    <a:pt x="268" y="126"/>
                    <a:pt x="263" y="128"/>
                    <a:pt x="261" y="130"/>
                  </a:cubicBezTo>
                  <a:cubicBezTo>
                    <a:pt x="259" y="132"/>
                    <a:pt x="257" y="134"/>
                    <a:pt x="255" y="135"/>
                  </a:cubicBezTo>
                  <a:close/>
                  <a:moveTo>
                    <a:pt x="308" y="302"/>
                  </a:moveTo>
                  <a:cubicBezTo>
                    <a:pt x="306" y="301"/>
                    <a:pt x="303" y="301"/>
                    <a:pt x="301" y="300"/>
                  </a:cubicBezTo>
                  <a:cubicBezTo>
                    <a:pt x="299" y="300"/>
                    <a:pt x="298" y="299"/>
                    <a:pt x="295" y="298"/>
                  </a:cubicBezTo>
                  <a:cubicBezTo>
                    <a:pt x="296" y="293"/>
                    <a:pt x="290" y="292"/>
                    <a:pt x="287" y="289"/>
                  </a:cubicBezTo>
                  <a:cubicBezTo>
                    <a:pt x="284" y="287"/>
                    <a:pt x="282" y="284"/>
                    <a:pt x="277" y="285"/>
                  </a:cubicBezTo>
                  <a:cubicBezTo>
                    <a:pt x="276" y="285"/>
                    <a:pt x="271" y="287"/>
                    <a:pt x="272" y="288"/>
                  </a:cubicBezTo>
                  <a:cubicBezTo>
                    <a:pt x="269" y="285"/>
                    <a:pt x="268" y="284"/>
                    <a:pt x="263" y="282"/>
                  </a:cubicBezTo>
                  <a:cubicBezTo>
                    <a:pt x="259" y="281"/>
                    <a:pt x="257" y="276"/>
                    <a:pt x="253" y="281"/>
                  </a:cubicBezTo>
                  <a:cubicBezTo>
                    <a:pt x="251" y="283"/>
                    <a:pt x="252" y="286"/>
                    <a:pt x="251" y="288"/>
                  </a:cubicBezTo>
                  <a:cubicBezTo>
                    <a:pt x="247" y="285"/>
                    <a:pt x="254" y="282"/>
                    <a:pt x="251" y="279"/>
                  </a:cubicBezTo>
                  <a:cubicBezTo>
                    <a:pt x="248" y="275"/>
                    <a:pt x="243" y="281"/>
                    <a:pt x="240" y="282"/>
                  </a:cubicBezTo>
                  <a:cubicBezTo>
                    <a:pt x="239" y="284"/>
                    <a:pt x="237" y="284"/>
                    <a:pt x="236" y="286"/>
                  </a:cubicBezTo>
                  <a:cubicBezTo>
                    <a:pt x="235" y="287"/>
                    <a:pt x="234" y="290"/>
                    <a:pt x="233" y="291"/>
                  </a:cubicBezTo>
                  <a:cubicBezTo>
                    <a:pt x="233" y="289"/>
                    <a:pt x="228" y="290"/>
                    <a:pt x="228" y="288"/>
                  </a:cubicBezTo>
                  <a:cubicBezTo>
                    <a:pt x="229" y="294"/>
                    <a:pt x="229" y="301"/>
                    <a:pt x="230" y="307"/>
                  </a:cubicBezTo>
                  <a:cubicBezTo>
                    <a:pt x="231" y="310"/>
                    <a:pt x="230" y="316"/>
                    <a:pt x="227" y="319"/>
                  </a:cubicBezTo>
                  <a:cubicBezTo>
                    <a:pt x="224" y="321"/>
                    <a:pt x="221" y="324"/>
                    <a:pt x="220" y="329"/>
                  </a:cubicBezTo>
                  <a:cubicBezTo>
                    <a:pt x="220" y="332"/>
                    <a:pt x="220" y="334"/>
                    <a:pt x="223" y="335"/>
                  </a:cubicBezTo>
                  <a:cubicBezTo>
                    <a:pt x="223" y="339"/>
                    <a:pt x="219" y="342"/>
                    <a:pt x="219" y="346"/>
                  </a:cubicBezTo>
                  <a:cubicBezTo>
                    <a:pt x="219" y="346"/>
                    <a:pt x="220" y="348"/>
                    <a:pt x="220" y="350"/>
                  </a:cubicBezTo>
                  <a:cubicBezTo>
                    <a:pt x="254" y="344"/>
                    <a:pt x="285" y="327"/>
                    <a:pt x="308" y="302"/>
                  </a:cubicBezTo>
                  <a:close/>
                </a:path>
              </a:pathLst>
            </a:custGeom>
            <a:solidFill>
              <a:srgbClr val="598AD7"/>
            </a:solidFill>
            <a:ln w="9525">
              <a:noFill/>
              <a:round/>
            </a:ln>
          </p:spPr>
          <p:txBody>
            <a:bodyPr vert="horz" wrap="square" lIns="128550" tIns="64275" rIns="128550" bIns="64275" numCol="1" anchor="t" anchorCtr="0" compatLnSpc="1"/>
            <a:lstStyle/>
            <a:p>
              <a:endParaRPr lang="en-US" sz="253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/>
                <a:ea typeface="微软雅黑" panose="020B0503020204020204" pitchFamily="34" charset="-122"/>
                <a:sym typeface="Arial" panose="020B0604020202090204"/>
              </a:endParaRPr>
            </a:p>
          </p:txBody>
        </p:sp>
        <p:sp>
          <p:nvSpPr>
            <p:cNvPr id="7182" name="稻壳儿小白白(http://dwz.cn/Wu2UP)"/>
            <p:cNvSpPr/>
            <p:nvPr>
              <p:custDataLst>
                <p:tags r:id="rId7"/>
              </p:custDataLst>
            </p:nvPr>
          </p:nvSpPr>
          <p:spPr bwMode="auto">
            <a:xfrm>
              <a:off x="13279" y="3004"/>
              <a:ext cx="828" cy="847"/>
            </a:xfrm>
            <a:custGeom>
              <a:avLst/>
              <a:gdLst>
                <a:gd name="T0" fmla="*/ 2147483646 w 452"/>
                <a:gd name="T1" fmla="*/ 2147483646 h 462"/>
                <a:gd name="T2" fmla="*/ 2147483646 w 452"/>
                <a:gd name="T3" fmla="*/ 2147483646 h 462"/>
                <a:gd name="T4" fmla="*/ 2147483646 w 452"/>
                <a:gd name="T5" fmla="*/ 2147483646 h 462"/>
                <a:gd name="T6" fmla="*/ 2147483646 w 452"/>
                <a:gd name="T7" fmla="*/ 2147483646 h 462"/>
                <a:gd name="T8" fmla="*/ 2147483646 w 452"/>
                <a:gd name="T9" fmla="*/ 2147483646 h 462"/>
                <a:gd name="T10" fmla="*/ 2147483646 w 452"/>
                <a:gd name="T11" fmla="*/ 2147483646 h 462"/>
                <a:gd name="T12" fmla="*/ 2147483646 w 452"/>
                <a:gd name="T13" fmla="*/ 2147483646 h 462"/>
                <a:gd name="T14" fmla="*/ 2147483646 w 452"/>
                <a:gd name="T15" fmla="*/ 2147483646 h 462"/>
                <a:gd name="T16" fmla="*/ 2147483646 w 452"/>
                <a:gd name="T17" fmla="*/ 2147483646 h 462"/>
                <a:gd name="T18" fmla="*/ 2147483646 w 452"/>
                <a:gd name="T19" fmla="*/ 2147483646 h 462"/>
                <a:gd name="T20" fmla="*/ 2147483646 w 452"/>
                <a:gd name="T21" fmla="*/ 2147483646 h 462"/>
                <a:gd name="T22" fmla="*/ 2147483646 w 452"/>
                <a:gd name="T23" fmla="*/ 2147483646 h 462"/>
                <a:gd name="T24" fmla="*/ 2147483646 w 452"/>
                <a:gd name="T25" fmla="*/ 2147483646 h 462"/>
                <a:gd name="T26" fmla="*/ 2147483646 w 452"/>
                <a:gd name="T27" fmla="*/ 2147483646 h 462"/>
                <a:gd name="T28" fmla="*/ 2147483646 w 452"/>
                <a:gd name="T29" fmla="*/ 2147483646 h 462"/>
                <a:gd name="T30" fmla="*/ 2147483646 w 452"/>
                <a:gd name="T31" fmla="*/ 2147483646 h 462"/>
                <a:gd name="T32" fmla="*/ 2147483646 w 452"/>
                <a:gd name="T33" fmla="*/ 2147483646 h 462"/>
                <a:gd name="T34" fmla="*/ 2147483646 w 452"/>
                <a:gd name="T35" fmla="*/ 2147483646 h 462"/>
                <a:gd name="T36" fmla="*/ 2147483646 w 452"/>
                <a:gd name="T37" fmla="*/ 2147483646 h 46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52"/>
                <a:gd name="T58" fmla="*/ 0 h 462"/>
                <a:gd name="T59" fmla="*/ 452 w 452"/>
                <a:gd name="T60" fmla="*/ 462 h 46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52" h="462">
                  <a:moveTo>
                    <a:pt x="275" y="301"/>
                  </a:moveTo>
                  <a:lnTo>
                    <a:pt x="275" y="301"/>
                  </a:lnTo>
                  <a:cubicBezTo>
                    <a:pt x="275" y="301"/>
                    <a:pt x="451" y="169"/>
                    <a:pt x="434" y="26"/>
                  </a:cubicBezTo>
                  <a:lnTo>
                    <a:pt x="434" y="18"/>
                  </a:lnTo>
                  <a:cubicBezTo>
                    <a:pt x="425" y="18"/>
                    <a:pt x="425" y="18"/>
                    <a:pt x="425" y="18"/>
                  </a:cubicBezTo>
                  <a:cubicBezTo>
                    <a:pt x="284" y="0"/>
                    <a:pt x="159" y="178"/>
                    <a:pt x="159" y="178"/>
                  </a:cubicBezTo>
                  <a:cubicBezTo>
                    <a:pt x="53" y="159"/>
                    <a:pt x="62" y="186"/>
                    <a:pt x="9" y="301"/>
                  </a:cubicBezTo>
                  <a:cubicBezTo>
                    <a:pt x="0" y="328"/>
                    <a:pt x="18" y="328"/>
                    <a:pt x="35" y="328"/>
                  </a:cubicBezTo>
                  <a:cubicBezTo>
                    <a:pt x="53" y="319"/>
                    <a:pt x="88" y="310"/>
                    <a:pt x="88" y="310"/>
                  </a:cubicBezTo>
                  <a:cubicBezTo>
                    <a:pt x="151" y="372"/>
                    <a:pt x="151" y="372"/>
                    <a:pt x="151" y="372"/>
                  </a:cubicBezTo>
                  <a:cubicBezTo>
                    <a:pt x="151" y="372"/>
                    <a:pt x="141" y="407"/>
                    <a:pt x="133" y="425"/>
                  </a:cubicBezTo>
                  <a:cubicBezTo>
                    <a:pt x="124" y="443"/>
                    <a:pt x="133" y="461"/>
                    <a:pt x="151" y="452"/>
                  </a:cubicBezTo>
                  <a:cubicBezTo>
                    <a:pt x="266" y="398"/>
                    <a:pt x="292" y="407"/>
                    <a:pt x="275" y="301"/>
                  </a:cubicBezTo>
                  <a:close/>
                  <a:moveTo>
                    <a:pt x="301" y="150"/>
                  </a:moveTo>
                  <a:lnTo>
                    <a:pt x="301" y="150"/>
                  </a:lnTo>
                  <a:cubicBezTo>
                    <a:pt x="284" y="133"/>
                    <a:pt x="284" y="115"/>
                    <a:pt x="301" y="97"/>
                  </a:cubicBezTo>
                  <a:cubicBezTo>
                    <a:pt x="319" y="80"/>
                    <a:pt x="345" y="80"/>
                    <a:pt x="354" y="97"/>
                  </a:cubicBezTo>
                  <a:cubicBezTo>
                    <a:pt x="372" y="115"/>
                    <a:pt x="372" y="133"/>
                    <a:pt x="354" y="150"/>
                  </a:cubicBezTo>
                  <a:cubicBezTo>
                    <a:pt x="345" y="169"/>
                    <a:pt x="319" y="169"/>
                    <a:pt x="301" y="150"/>
                  </a:cubicBezTo>
                  <a:close/>
                </a:path>
              </a:pathLst>
            </a:custGeom>
            <a:solidFill>
              <a:srgbClr val="598AD7"/>
            </a:soli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135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660854" y="1177380"/>
            <a:ext cx="8860971" cy="1722162"/>
            <a:chOff x="998" y="2742"/>
            <a:chExt cx="11644" cy="4783"/>
          </a:xfrm>
        </p:grpSpPr>
        <p:sp>
          <p:nvSpPr>
            <p:cNvPr id="13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1070" y="2742"/>
              <a:ext cx="11572" cy="43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9600">
                  <a:solidFill>
                    <a:schemeClr val="accent5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恳请批评与指正</a:t>
              </a:r>
              <a:r>
                <a:rPr lang="en-US" altLang="zh-CN" sz="9600">
                  <a:solidFill>
                    <a:schemeClr val="accent5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！</a:t>
              </a:r>
            </a:p>
          </p:txBody>
        </p:sp>
        <p:sp>
          <p:nvSpPr>
            <p:cNvPr id="7" name="文本框 6"/>
            <p:cNvSpPr txBox="1"/>
            <p:nvPr>
              <p:custDataLst>
                <p:tags r:id="rId6"/>
              </p:custDataLst>
            </p:nvPr>
          </p:nvSpPr>
          <p:spPr>
            <a:xfrm>
              <a:off x="998" y="3169"/>
              <a:ext cx="11644" cy="43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9600">
                  <a:solidFill>
                    <a:schemeClr val="bg1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恳请批评与指正</a:t>
              </a:r>
              <a:r>
                <a:rPr lang="en-US" altLang="zh-CN" sz="9600">
                  <a:solidFill>
                    <a:schemeClr val="bg1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！</a:t>
              </a:r>
            </a:p>
          </p:txBody>
        </p:sp>
      </p:grpSp>
      <p:pic>
        <p:nvPicPr>
          <p:cNvPr id="8" name="图片 7" descr="51miz-E242251-C77F509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871970" y="3926840"/>
            <a:ext cx="5299710" cy="2084705"/>
          </a:xfrm>
          <a:prstGeom prst="rect">
            <a:avLst/>
          </a:prstGeom>
        </p:spPr>
      </p:pic>
      <p:pic>
        <p:nvPicPr>
          <p:cNvPr id="9" name="图片 8" descr="51miz-E242251-C77F5093 拷贝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376410" y="2899410"/>
            <a:ext cx="2522220" cy="87249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01494" y="3429090"/>
            <a:ext cx="8860971" cy="1722162"/>
            <a:chOff x="998" y="2742"/>
            <a:chExt cx="11644" cy="4783"/>
          </a:xfrm>
        </p:grpSpPr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070" y="2742"/>
              <a:ext cx="11572" cy="43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9600">
                  <a:solidFill>
                    <a:schemeClr val="accent5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谢谢大家</a:t>
              </a:r>
              <a:r>
                <a:rPr lang="en-US" altLang="zh-CN" sz="9600">
                  <a:solidFill>
                    <a:schemeClr val="accent5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！</a:t>
              </a:r>
            </a:p>
          </p:txBody>
        </p: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998" y="3169"/>
              <a:ext cx="11644" cy="435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9600">
                  <a:solidFill>
                    <a:schemeClr val="bg1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谢谢大家</a:t>
              </a:r>
              <a:r>
                <a:rPr lang="en-US" altLang="zh-CN" sz="9600">
                  <a:solidFill>
                    <a:schemeClr val="bg1"/>
                  </a:solidFill>
                  <a:effectLst/>
                  <a:latin typeface="字体家AI造字剑客" panose="03000503000000000000" pitchFamily="66" charset="-122"/>
                  <a:ea typeface="字体家AI造字剑客" panose="03000503000000000000" pitchFamily="66" charset="-122"/>
                  <a:sym typeface="+mn-ea"/>
                </a:rPr>
                <a:t>！</a:t>
              </a:r>
            </a:p>
          </p:txBody>
        </p: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4"/>
  <p:tag name="KSO_WM_UNIT_TEXT_FILL_FORE_SCHEMECOLOR_INDEX_BRIGHTNESS" val="-0.25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4"/>
  <p:tag name="KSO_WM_UNIT_TEXT_FILL_FORE_SCHEMECOLOR_INDEX_BRIGHTNESS" val="0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TEXT_FILL_FORE_SCHEMECOLOR_INDEX" val="14"/>
  <p:tag name="KSO_WM_UNIT_TEXT_FILL_FORE_SCHEMECOLOR_INDEX_BRIGHTNESS" val="0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阿里巴巴普惠">
      <a:majorFont>
        <a:latin typeface="仿宋"/>
        <a:ea typeface="仿宋"/>
        <a:cs typeface="Arial"/>
      </a:majorFont>
      <a:minorFont>
        <a:latin typeface="仿宋"/>
        <a:ea typeface="仿宋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510</Words>
  <Application>Microsoft Office PowerPoint</Application>
  <PresentationFormat>宽屏</PresentationFormat>
  <Paragraphs>79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阿里巴巴普惠体 R</vt:lpstr>
      <vt:lpstr>黑体</vt:lpstr>
      <vt:lpstr>微软雅黑</vt:lpstr>
      <vt:lpstr>字体家AI造字剑客</vt:lpstr>
      <vt:lpstr>Arial</vt:lpstr>
      <vt:lpstr>Calibri</vt:lpstr>
      <vt:lpstr>第一PPT，www.1ppt.com</vt:lpstr>
      <vt:lpstr>PowerPoint 演示文稿</vt:lpstr>
      <vt:lpstr>数据库E-R图</vt:lpstr>
      <vt:lpstr>功能设计</vt:lpstr>
      <vt:lpstr>业务逻辑规则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卤蛋 许</cp:lastModifiedBy>
  <cp:revision>17</cp:revision>
  <dcterms:created xsi:type="dcterms:W3CDTF">2026-06-30T04:49:13Z</dcterms:created>
  <dcterms:modified xsi:type="dcterms:W3CDTF">2026-06-30T15:13:28Z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4AB332118C03AEB4B03D436A1C08CF59_43</vt:lpwstr>
  </property>
  <property fmtid="{D5CDD505-2E9C-101B-9397-08002B2CF9AE}" pid="3" name="KSOProductBuildVer">
    <vt:lpwstr>2052-12.1.25205.25205</vt:lpwstr>
  </property>
</Properties>
</file>